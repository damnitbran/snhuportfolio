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6"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A8FA2F-A012-4B40-802E-33E81D4A0608}" type="datetimeFigureOut">
              <a:rPr lang="en-US" smtClean="0"/>
              <a:t>8/14/2026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79EE7A-A4AF-4506-8D47-C95B13B097CD}" type="slidenum">
              <a:rPr lang="en-US" smtClean="0"/>
              <a:t>‹#›</a:t>
            </a:fld>
            <a:endParaRPr lang="en-US"/>
          </a:p>
        </p:txBody>
      </p:sp>
    </p:spTree>
    <p:extLst>
      <p:ext uri="{BB962C8B-B14F-4D97-AF65-F5344CB8AC3E}">
        <p14:creationId xmlns:p14="http://schemas.microsoft.com/office/powerpoint/2010/main" val="1801015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Scrum role has a distinct job, and the team only works if all four are doing theirs. The Product Owner keeps one clear, prioritized backlog so the team is not pulled in different directions by different stakeholders. The Scrum Master runs events like the Daily Scrum and clears blockers so the team can stay focused on the sprint goal. The Developer builds directly off backlog items instead of working in isolation. The Tester works from the same acceptance criteria the Product Owner writes, catching gaps before they reach the client. On the SNHU Travel project, I worked all four roles across different modules, and the biggest lesson was that none of these roles work well in isolation, they depend on each other staying in sync. Verwijs and Russo's 2023 study of Scrum team effectiveness backs this up. Team autonomy and stakeholder concern were two of the five biggest factors separating effective Scrum teams from ineffective ones, and both depend on roles trusting each other to do their part.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does not treat requirements, design, build, test, and deploy as a one-time sequence. It runs them as a repeating cycle every sprint. Refinement and Sprint Planning set up what the team is building. The Daily Scrum keeps the team in sync while they build it. The Sprint Review gets the work in front of stakeholders early instead of waiting months to find out it missed the mark. The Retrospective closes the loop by fixing what slowed the team down before the next cycle starts. On SNHU Travel, this is exactly the structure that let a mid-project requirement change in Module Five get absorbed without blowing up the schedule, because the next sprint just picked up the new direction instead of reopening a finished plan. Tomaselli, Pinto, and Acuña's 2025 review of agile requirements practices found that well-structured backlog refinement is one of the strongest predictors of whether user stories actually reach a usable definition of done, which is exactly what happened with the SNHU Travel stories once acceptance criteria were nailed down.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Module Five, the Product Owner shifted the SNHU Travel slideshow from general top destinations to five detox and wellness destinations partway through the sprint. Under waterfall, that change would land after requirements and design were already signed off, which means reopening those phases and cascading rework backward through the project. Under the Agile approach we actually used, the story was already scoped down to a small, clearly defined piece of work, so only the destinations, images, and slide text needed to change. I sent a direct email to the Product Owner and tester confirming exactly what was changing before writing any code, which meant the change got built once instead of guessed at and redone. Saravanos and Curinga's 2023 simulation of the waterfall model shows this cost concretely, their model found that resource bottlenecks and phase dependencies in waterfall projects compound delays because later phases cannot start until earlier ones are fully resolved, which is exactly the rigidity that would have turned this pivot into a scheduling problem.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between Waterfall and Agile comes down to how stable the requirements really are and how much stakeholder feedback the project needs along the way. SNHU Travel was a good fit for Agile because the client kept reshaping direction, shown clearly by the Module Five wellness pivot, and Agile absorbed that change without blowing up the schedule. A project with fixed, well-understood requirements from day one might not need that flexibility and could move faster under a more linear approach. The tradeoff is coordination overhead, every role handoff on this project came with a small ramp-up cost that a single continuous owner would not have. Asana's 2025 comparison of these approaches makes the same point, that the right choice depends on the specific mix of requirement stability and stakeholder involvement on a given project, not on one methodology being universally better than the other.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39" y="1033272"/>
            <a:ext cx="5892073" cy="3895344"/>
          </a:xfrm>
        </p:spPr>
        <p:txBody>
          <a:bodyPr vert="horz" lIns="91440" tIns="45720" rIns="91440" bIns="45720" rtlCol="0" anchor="t">
            <a:normAutofit/>
          </a:bodyPr>
          <a:lstStyle>
            <a:lvl1pPr>
              <a:defRPr lang="en-US" sz="80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40" y="5733288"/>
            <a:ext cx="5892071" cy="795528"/>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6931152" y="793817"/>
            <a:ext cx="5260848" cy="6064181"/>
          </a:xfrm>
          <a:blipFill>
            <a:blip r:embed="rId2">
              <a:alphaModFix amt="8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6938587" y="207982"/>
            <a:ext cx="2662798" cy="413360"/>
          </a:xfrm>
        </p:spPr>
        <p:txBody>
          <a:bodyPr/>
          <a:lstStyle>
            <a:lvl1pPr>
              <a:defRPr>
                <a:solidFill>
                  <a:schemeClr val="tx2"/>
                </a:solidFill>
              </a:defRPr>
            </a:lvl1p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chemeClr val="tx2"/>
                </a:solidFill>
              </a:defRPr>
            </a:lvl1pPr>
          </a:lstStyle>
          <a:p>
            <a:fld id="{050D633B-F7DD-475B-8BB7-EA89646A28FF}" type="slidenum">
              <a:rPr lang="en-US" smtClean="0"/>
              <a:t>‹#›</a:t>
            </a:fld>
            <a:endParaRPr lang="en-US"/>
          </a:p>
        </p:txBody>
      </p:sp>
      <p:cxnSp>
        <p:nvCxnSpPr>
          <p:cNvPr id="9" name="Straight Connector 8">
            <a:extLst>
              <a:ext uri="{FF2B5EF4-FFF2-40B4-BE49-F238E27FC236}">
                <a16:creationId xmlns:a16="http://schemas.microsoft.com/office/drawing/2014/main" id="{CF2C2C7B-6B47-4A5B-B24C-B316964ABE62}"/>
              </a:ext>
            </a:extLst>
          </p:cNvPr>
          <p:cNvCxnSpPr>
            <a:cxnSpLocks/>
          </p:cNvCxnSpPr>
          <p:nvPr/>
        </p:nvCxnSpPr>
        <p:spPr>
          <a:xfrm flipV="1">
            <a:off x="6929823" y="789558"/>
            <a:ext cx="0" cy="606844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4F32355F-80FD-3956-F8D4-9DF4073D0E2E}"/>
              </a:ext>
            </a:extLst>
          </p:cNvPr>
          <p:cNvCxnSpPr>
            <a:cxnSpLocks/>
          </p:cNvCxnSpPr>
          <p:nvPr/>
        </p:nvCxnSpPr>
        <p:spPr>
          <a:xfrm>
            <a:off x="0" y="5420250"/>
            <a:ext cx="6929823"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D4DD8B2-0D73-EB9B-9708-67DF28E40F96}"/>
              </a:ext>
            </a:extLst>
          </p:cNvPr>
          <p:cNvCxnSpPr>
            <a:cxnSpLocks/>
          </p:cNvCxnSpPr>
          <p:nvPr/>
        </p:nvCxnSpPr>
        <p:spPr>
          <a:xfrm>
            <a:off x="0" y="791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481436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612648"/>
            <a:ext cx="11253668" cy="1106424"/>
          </a:xfrm>
        </p:spPr>
        <p:txBody>
          <a:bodyPr/>
          <a:lstStyle>
            <a:lvl1pPr>
              <a:defRPr sz="66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9" y="2139696"/>
            <a:ext cx="11253668" cy="42885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2D457B6E-DC25-9A54-64F7-98703149B156}"/>
              </a:ext>
            </a:extLst>
          </p:cNvPr>
          <p:cNvSpPr>
            <a:spLocks noGrp="1"/>
          </p:cNvSpPr>
          <p:nvPr>
            <p:ph type="ftr" sz="quarter" idx="11"/>
          </p:nvPr>
        </p:nvSpPr>
        <p:spPr/>
        <p:txBody>
          <a:bodyPr/>
          <a:lstStyle/>
          <a:p>
            <a:endParaRPr lang="en-US"/>
          </a:p>
        </p:txBody>
      </p:sp>
      <p:sp>
        <p:nvSpPr>
          <p:cNvPr id="8" name="Date Placeholder 7">
            <a:extLst>
              <a:ext uri="{FF2B5EF4-FFF2-40B4-BE49-F238E27FC236}">
                <a16:creationId xmlns:a16="http://schemas.microsoft.com/office/drawing/2014/main" id="{D49DF708-DA4E-D117-5CE8-7401A836F675}"/>
              </a:ext>
            </a:extLst>
          </p:cNvPr>
          <p:cNvSpPr>
            <a:spLocks noGrp="1"/>
          </p:cNvSpPr>
          <p:nvPr>
            <p:ph type="dt" sz="half" idx="10"/>
          </p:nvPr>
        </p:nvSpPr>
        <p:spPr/>
        <p:txBody>
          <a:bodyPr/>
          <a:lstStyle/>
          <a:p>
            <a:fld id="{F5636E68-B8AE-455B-9579-C9480A2798EE}" type="datetimeFigureOut">
              <a:rPr lang="en-US" smtClean="0"/>
              <a:t>8/14/2026</a:t>
            </a:fld>
            <a:endParaRPr lang="en-US"/>
          </a:p>
        </p:txBody>
      </p:sp>
      <p:sp>
        <p:nvSpPr>
          <p:cNvPr id="10" name="Slide Number Placeholder 9">
            <a:extLst>
              <a:ext uri="{FF2B5EF4-FFF2-40B4-BE49-F238E27FC236}">
                <a16:creationId xmlns:a16="http://schemas.microsoft.com/office/drawing/2014/main" id="{D1AE2728-8254-BE0F-89AB-2D5352D66F0D}"/>
              </a:ext>
            </a:extLst>
          </p:cNvPr>
          <p:cNvSpPr>
            <a:spLocks noGrp="1"/>
          </p:cNvSpPr>
          <p:nvPr>
            <p:ph type="sldNum" sz="quarter" idx="12"/>
          </p:nvPr>
        </p:nvSpPr>
        <p:spPr/>
        <p:txBody>
          <a:bodyPr/>
          <a:lstStyle/>
          <a:p>
            <a:fld id="{050D633B-F7DD-475B-8BB7-EA89646A28FF}" type="slidenum">
              <a:rPr lang="en-US" smtClean="0"/>
              <a:t>‹#›</a:t>
            </a:fld>
            <a:endParaRPr lang="en-US"/>
          </a:p>
        </p:txBody>
      </p:sp>
      <p:cxnSp>
        <p:nvCxnSpPr>
          <p:cNvPr id="7" name="Straight Connector 6">
            <a:extLst>
              <a:ext uri="{FF2B5EF4-FFF2-40B4-BE49-F238E27FC236}">
                <a16:creationId xmlns:a16="http://schemas.microsoft.com/office/drawing/2014/main" id="{093DFD8D-B66E-C844-B523-E3C51265F5EA}"/>
              </a:ext>
            </a:extLst>
          </p:cNvPr>
          <p:cNvCxnSpPr>
            <a:cxnSpLocks/>
          </p:cNvCxnSpPr>
          <p:nvPr/>
        </p:nvCxnSpPr>
        <p:spPr>
          <a:xfrm>
            <a:off x="0" y="1805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5124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5223554"/>
            <a:ext cx="11430000" cy="914400"/>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6083090"/>
            <a:ext cx="11429999" cy="566928"/>
          </a:xfrm>
        </p:spPr>
        <p:txBody>
          <a:bodyPr vert="horz" lIns="91440" tIns="45720" rIns="91440" bIns="45720" rtlCol="0" anchor="ctr">
            <a:normAutofit/>
          </a:bodyPr>
          <a:lstStyle>
            <a:lvl1pPr marL="0" indent="0">
              <a:buNone/>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1F08B46D-341A-2502-FE91-2C5EF771037B}"/>
              </a:ext>
            </a:extLst>
          </p:cNvPr>
          <p:cNvSpPr>
            <a:spLocks noGrp="1"/>
          </p:cNvSpPr>
          <p:nvPr>
            <p:ph type="pic" sz="quarter" idx="13" hasCustomPrompt="1"/>
          </p:nvPr>
        </p:nvSpPr>
        <p:spPr>
          <a:xfrm>
            <a:off x="0" y="0"/>
            <a:ext cx="12192000" cy="50694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p:txBody>
          <a:bodyPr/>
          <a:lstStyle>
            <a:lvl1pPr>
              <a:defRPr>
                <a:solidFill>
                  <a:srgbClr val="FFFFFF"/>
                </a:solidFill>
                <a:effectLst>
                  <a:outerShdw blurRad="38100" dist="38100" dir="2700000" algn="tl">
                    <a:srgbClr val="000000">
                      <a:alpha val="43137"/>
                    </a:srgbClr>
                  </a:outerShdw>
                </a:effectLst>
              </a:defRPr>
            </a:lvl1pPr>
          </a:lstStyle>
          <a:p>
            <a:endParaRPr 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p:txBody>
          <a:bodyPr/>
          <a:lstStyle>
            <a:lvl1pPr>
              <a:defRPr>
                <a:solidFill>
                  <a:srgbClr val="FFFFFF"/>
                </a:solidFill>
                <a:effectLst>
                  <a:outerShdw blurRad="38100" dist="38100" dir="2700000" algn="tl">
                    <a:srgbClr val="000000">
                      <a:alpha val="43137"/>
                    </a:srgbClr>
                  </a:outerShdw>
                </a:effectLst>
              </a:defRPr>
            </a:lvl1p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p:txBody>
          <a:bodyPr/>
          <a:lstStyle>
            <a:lvl1pPr>
              <a:defRPr>
                <a:solidFill>
                  <a:srgbClr val="FFFFFF"/>
                </a:solidFill>
                <a:effectLst>
                  <a:outerShdw blurRad="38100" dist="38100" dir="2700000" algn="tl">
                    <a:srgbClr val="000000">
                      <a:alpha val="43137"/>
                    </a:srgbClr>
                  </a:outerShdw>
                </a:effectLst>
              </a:defRPr>
            </a:lvl1pPr>
          </a:lstStyle>
          <a:p>
            <a:fld id="{050D633B-F7DD-475B-8BB7-EA89646A28FF}" type="slidenum">
              <a:rPr lang="en-US" smtClean="0"/>
              <a:t>‹#›</a:t>
            </a:fld>
            <a:endParaRPr lang="en-US"/>
          </a:p>
        </p:txBody>
      </p:sp>
      <p:cxnSp>
        <p:nvCxnSpPr>
          <p:cNvPr id="7" name="Straight Connector 6">
            <a:extLst>
              <a:ext uri="{FF2B5EF4-FFF2-40B4-BE49-F238E27FC236}">
                <a16:creationId xmlns:a16="http://schemas.microsoft.com/office/drawing/2014/main" id="{8ABE8472-319C-7663-7B71-2A6549DED7EF}"/>
              </a:ext>
            </a:extLst>
          </p:cNvPr>
          <p:cNvCxnSpPr>
            <a:cxnSpLocks/>
          </p:cNvCxnSpPr>
          <p:nvPr/>
        </p:nvCxnSpPr>
        <p:spPr>
          <a:xfrm>
            <a:off x="0" y="5068350"/>
            <a:ext cx="12188952"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51361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F58-285B-E151-006A-D88C36BBB753}"/>
              </a:ext>
            </a:extLst>
          </p:cNvPr>
          <p:cNvSpPr>
            <a:spLocks noGrp="1"/>
          </p:cNvSpPr>
          <p:nvPr>
            <p:ph type="ctrTitle"/>
          </p:nvPr>
        </p:nvSpPr>
        <p:spPr>
          <a:xfrm>
            <a:off x="320040" y="758952"/>
            <a:ext cx="7589520" cy="4087368"/>
          </a:xfrm>
        </p:spPr>
        <p:txBody>
          <a:bodyPr vert="horz" lIns="91440" tIns="45720" rIns="91440" bIns="45720" rtlCol="0" anchor="t">
            <a:normAutofit/>
          </a:bodyPr>
          <a:lstStyle>
            <a:lvl1pPr>
              <a:defRPr lang="en-US" sz="960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F9206861-2B51-5BD1-EB7B-C21E31ED4CF6}"/>
              </a:ext>
            </a:extLst>
          </p:cNvPr>
          <p:cNvSpPr>
            <a:spLocks noGrp="1"/>
          </p:cNvSpPr>
          <p:nvPr>
            <p:ph type="subTitle" idx="1"/>
          </p:nvPr>
        </p:nvSpPr>
        <p:spPr>
          <a:xfrm>
            <a:off x="320039" y="5404104"/>
            <a:ext cx="11515277" cy="576072"/>
          </a:xfrm>
        </p:spPr>
        <p:txBody>
          <a:bodyPr vert="horz" lIns="91440" tIns="45720" rIns="91440" bIns="45720" rtlCol="0" anchor="ctr">
            <a:normAutofit/>
          </a:bodyPr>
          <a:lstStyle>
            <a:lvl1pPr marL="0" indent="0">
              <a:buNone/>
              <a:defRPr lang="en-US" dirty="0">
                <a:solidFill>
                  <a:schemeClr val="tx2"/>
                </a:solidFill>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822DDD77-F8A9-7EC7-8615-6A38937CE728}"/>
              </a:ext>
            </a:extLst>
          </p:cNvPr>
          <p:cNvSpPr>
            <a:spLocks noGrp="1"/>
          </p:cNvSpPr>
          <p:nvPr>
            <p:ph type="ftr" sz="quarter" idx="11"/>
          </p:nvPr>
        </p:nvSpPr>
        <p:spPr>
          <a:xfrm>
            <a:off x="317773" y="6254496"/>
            <a:ext cx="2963692" cy="41336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98AB215-86A6-6EC5-BC27-7962FA84A1AE}"/>
              </a:ext>
            </a:extLst>
          </p:cNvPr>
          <p:cNvSpPr>
            <a:spLocks noGrp="1"/>
          </p:cNvSpPr>
          <p:nvPr>
            <p:ph type="dt" sz="half" idx="10"/>
          </p:nvPr>
        </p:nvSpPr>
        <p:spPr>
          <a:xfrm>
            <a:off x="7921742" y="6254496"/>
            <a:ext cx="1679642" cy="413360"/>
          </a:xfrm>
        </p:spPr>
        <p:txBody>
          <a:bodyPr/>
          <a:lstStyle>
            <a:lvl1pPr>
              <a:defRPr>
                <a:solidFill>
                  <a:schemeClr val="tx2"/>
                </a:solidFill>
              </a:defRPr>
            </a:lvl1p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4360CECF-E526-1422-4780-123B6B1E96C9}"/>
              </a:ext>
            </a:extLst>
          </p:cNvPr>
          <p:cNvSpPr>
            <a:spLocks noGrp="1"/>
          </p:cNvSpPr>
          <p:nvPr>
            <p:ph type="sldNum" sz="quarter" idx="12"/>
          </p:nvPr>
        </p:nvSpPr>
        <p:spPr>
          <a:xfrm>
            <a:off x="11288870" y="6254496"/>
            <a:ext cx="546447" cy="413360"/>
          </a:xfrm>
        </p:spPr>
        <p:txBody>
          <a:bodyPr/>
          <a:lstStyle>
            <a:lvl1pPr>
              <a:defRPr>
                <a:solidFill>
                  <a:schemeClr val="tx2"/>
                </a:solidFill>
              </a:defRPr>
            </a:lvl1pPr>
          </a:lstStyle>
          <a:p>
            <a:fld id="{050D633B-F7DD-475B-8BB7-EA89646A28FF}" type="slidenum">
              <a:rPr lang="en-US" smtClean="0"/>
              <a:t>‹#›</a:t>
            </a:fld>
            <a:endParaRPr lang="en-US"/>
          </a:p>
        </p:txBody>
      </p:sp>
      <p:cxnSp>
        <p:nvCxnSpPr>
          <p:cNvPr id="8" name="Straight Connector 7">
            <a:extLst>
              <a:ext uri="{FF2B5EF4-FFF2-40B4-BE49-F238E27FC236}">
                <a16:creationId xmlns:a16="http://schemas.microsoft.com/office/drawing/2014/main" id="{F05C310B-ED34-BA33-630C-F8D5EB2A41A2}"/>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C6B77E3C-9D50-9277-C646-D9B5AB8122BB}"/>
              </a:ext>
            </a:extLst>
          </p:cNvPr>
          <p:cNvCxnSpPr>
            <a:cxnSpLocks/>
          </p:cNvCxnSpPr>
          <p:nvPr/>
        </p:nvCxnSpPr>
        <p:spPr>
          <a:xfrm>
            <a:off x="0" y="527477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293753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bg>
      <p:bgPr>
        <a:solidFill>
          <a:srgbClr val="C8350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77CE2-4402-942B-FD26-6E29BDAB9B47}"/>
              </a:ext>
            </a:extLst>
          </p:cNvPr>
          <p:cNvSpPr>
            <a:spLocks noGrp="1"/>
          </p:cNvSpPr>
          <p:nvPr>
            <p:ph type="title"/>
          </p:nvPr>
        </p:nvSpPr>
        <p:spPr>
          <a:xfrm>
            <a:off x="64008" y="1435608"/>
            <a:ext cx="11594592" cy="5559552"/>
          </a:xfrm>
        </p:spPr>
        <p:txBody>
          <a:bodyPr anchor="b">
            <a:normAutofit/>
          </a:bodyPr>
          <a:lstStyle>
            <a:lvl1pPr>
              <a:lnSpc>
                <a:spcPct val="67000"/>
              </a:lnSpc>
              <a:defRPr sz="14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EC3F3D2-CADD-A94F-6739-CCCDA6C6FA8C}"/>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40CC541E-3AF5-9564-CE04-E4B86459DBE0}"/>
              </a:ext>
            </a:extLst>
          </p:cNvPr>
          <p:cNvSpPr>
            <a:spLocks noGrp="1"/>
          </p:cNvSpPr>
          <p:nvPr>
            <p:ph type="dt" sz="half" idx="10"/>
          </p:nvPr>
        </p:nvSpPr>
        <p:spPr/>
        <p:txBody>
          <a:bodyPr/>
          <a:lstStyle>
            <a:lvl1pPr>
              <a:defRPr>
                <a:solidFill>
                  <a:schemeClr val="tx2"/>
                </a:solidFill>
              </a:defRPr>
            </a:lvl1p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C3C772A7-7F28-0EB0-D243-BCC6917DADA2}"/>
              </a:ext>
            </a:extLst>
          </p:cNvPr>
          <p:cNvSpPr>
            <a:spLocks noGrp="1"/>
          </p:cNvSpPr>
          <p:nvPr>
            <p:ph type="sldNum" sz="quarter" idx="12"/>
          </p:nvPr>
        </p:nvSpPr>
        <p:spPr/>
        <p:txBody>
          <a:bodyPr/>
          <a:lstStyle>
            <a:lvl1pPr>
              <a:defRPr>
                <a:solidFill>
                  <a:schemeClr val="tx2"/>
                </a:solidFill>
              </a:defRPr>
            </a:lvl1pPr>
          </a:lstStyle>
          <a:p>
            <a:fld id="{050D633B-F7DD-475B-8BB7-EA89646A28FF}" type="slidenum">
              <a:rPr lang="en-US" smtClean="0"/>
              <a:t>‹#›</a:t>
            </a:fld>
            <a:endParaRPr lang="en-US"/>
          </a:p>
        </p:txBody>
      </p:sp>
      <p:cxnSp>
        <p:nvCxnSpPr>
          <p:cNvPr id="8" name="Straight Connector 7">
            <a:extLst>
              <a:ext uri="{FF2B5EF4-FFF2-40B4-BE49-F238E27FC236}">
                <a16:creationId xmlns:a16="http://schemas.microsoft.com/office/drawing/2014/main" id="{7F716D65-B11C-E9B7-66BF-88E72C5DCEBA}"/>
              </a:ext>
            </a:extLst>
          </p:cNvPr>
          <p:cNvCxnSpPr>
            <a:cxnSpLocks/>
          </p:cNvCxnSpPr>
          <p:nvPr/>
        </p:nvCxnSpPr>
        <p:spPr>
          <a:xfrm>
            <a:off x="0" y="783822"/>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6186936"/>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Agenda">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7" y="886968"/>
            <a:ext cx="11405277" cy="1170432"/>
          </a:xfrm>
        </p:spPr>
        <p:txBody>
          <a:bodyPr>
            <a:normAutofit/>
          </a:bodyPr>
          <a:lstStyle>
            <a:lvl1pPr>
              <a:defRPr sz="8800">
                <a:solidFill>
                  <a:schemeClr val="accent1"/>
                </a:solidFill>
              </a:defRPr>
            </a:lvl1p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07599C6D-D164-AA94-72F8-241C187199F2}"/>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64881" y="2832652"/>
            <a:ext cx="6893719" cy="3508951"/>
          </a:xfrm>
        </p:spPr>
        <p:txBody>
          <a:bodyPr anchor="t">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10B50CAA-07B2-F8CA-1425-4249CE17A802}"/>
              </a:ext>
            </a:extLst>
          </p:cNvPr>
          <p:cNvSpPr>
            <a:spLocks noGrp="1"/>
          </p:cNvSpPr>
          <p:nvPr>
            <p:ph type="dt" sz="half" idx="10"/>
          </p:nvPr>
        </p:nvSpPr>
        <p:spPr/>
        <p:txBody>
          <a:bodyPr/>
          <a:lstStyle/>
          <a:p>
            <a:fld id="{F5636E68-B8AE-455B-9579-C9480A2798EE}" type="datetimeFigureOut">
              <a:rPr lang="en-US" smtClean="0"/>
              <a:t>8/14/2026</a:t>
            </a:fld>
            <a:endParaRPr lang="en-US"/>
          </a:p>
        </p:txBody>
      </p:sp>
      <p:sp>
        <p:nvSpPr>
          <p:cNvPr id="11" name="Slide Number Placeholder 10">
            <a:extLst>
              <a:ext uri="{FF2B5EF4-FFF2-40B4-BE49-F238E27FC236}">
                <a16:creationId xmlns:a16="http://schemas.microsoft.com/office/drawing/2014/main" id="{5DEAD866-E26E-BF23-7B5D-9F689B2FA881}"/>
              </a:ext>
            </a:extLst>
          </p:cNvPr>
          <p:cNvSpPr>
            <a:spLocks noGrp="1"/>
          </p:cNvSpPr>
          <p:nvPr>
            <p:ph type="sldNum" sz="quarter" idx="12"/>
          </p:nvPr>
        </p:nvSpPr>
        <p:spPr/>
        <p:txBody>
          <a:bodyPr/>
          <a:lstStyle/>
          <a:p>
            <a:fld id="{050D633B-F7DD-475B-8BB7-EA89646A28FF}" type="slidenum">
              <a:rPr lang="en-US" smtClean="0"/>
              <a:t>‹#›</a:t>
            </a:fld>
            <a:endParaRPr lang="en-US"/>
          </a:p>
        </p:txBody>
      </p:sp>
      <p:cxnSp>
        <p:nvCxnSpPr>
          <p:cNvPr id="9" name="Straight Connector 8">
            <a:extLst>
              <a:ext uri="{FF2B5EF4-FFF2-40B4-BE49-F238E27FC236}">
                <a16:creationId xmlns:a16="http://schemas.microsoft.com/office/drawing/2014/main" id="{E8AC7CAE-FC19-2728-AA3B-1D2FE7879B25}"/>
              </a:ext>
            </a:extLst>
          </p:cNvPr>
          <p:cNvCxnSpPr>
            <a:cxnSpLocks/>
          </p:cNvCxnSpPr>
          <p:nvPr/>
        </p:nvCxnSpPr>
        <p:spPr>
          <a:xfrm>
            <a:off x="0" y="2118492"/>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11B3592-91FB-05F4-B422-A40D7CD4DE2D}"/>
              </a:ext>
            </a:extLst>
          </p:cNvPr>
          <p:cNvCxnSpPr>
            <a:cxnSpLocks/>
          </p:cNvCxnSpPr>
          <p:nvPr/>
        </p:nvCxnSpPr>
        <p:spPr>
          <a:xfrm>
            <a:off x="0" y="800100"/>
            <a:ext cx="12192000"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6793003"/>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266944" y="521208"/>
            <a:ext cx="6647688" cy="1865376"/>
          </a:xfrm>
        </p:spPr>
        <p:txBody>
          <a:bodyPr>
            <a:normAutofit/>
          </a:bodyPr>
          <a:lstStyle>
            <a:lvl1pPr>
              <a:defRPr sz="8000">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AD3A4126-4E48-DD2C-1468-6A36AE6C1D14}"/>
              </a:ext>
            </a:extLst>
          </p:cNvPr>
          <p:cNvSpPr>
            <a:spLocks noGrp="1"/>
          </p:cNvSpPr>
          <p:nvPr>
            <p:ph type="pic" sz="quarter" idx="13" hasCustomPrompt="1"/>
          </p:nvPr>
        </p:nvSpPr>
        <p:spPr>
          <a:xfrm>
            <a:off x="0" y="0"/>
            <a:ext cx="4917320" cy="6858000"/>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266943" y="2651760"/>
            <a:ext cx="6327648" cy="3547872"/>
          </a:xfrm>
        </p:spPr>
        <p:txBody>
          <a:bodyPr>
            <a:normAutofit/>
          </a:bodyPr>
          <a:lstStyle>
            <a:lvl1pPr marL="457200" indent="-457200">
              <a:buFont typeface="+mj-lt"/>
              <a:buAutoNum type="arabicPeriod"/>
              <a:defRPr sz="2000"/>
            </a:lvl1pPr>
            <a:lvl2pPr marL="800100" indent="-342900">
              <a:buFont typeface="+mj-lt"/>
              <a:buAutoNum type="arabicPeriod"/>
              <a:defRPr sz="1800"/>
            </a:lvl2pPr>
            <a:lvl3pPr marL="1257300" indent="-342900">
              <a:buFont typeface="+mj-lt"/>
              <a:buAutoNum type="arabicPeriod"/>
              <a:defRPr sz="1600"/>
            </a:lvl3pPr>
            <a:lvl4pPr marL="1714500" indent="-342900">
              <a:buFont typeface="+mj-lt"/>
              <a:buAutoNum type="arabicPeriod"/>
              <a:defRPr sz="1400"/>
            </a:lvl4pPr>
            <a:lvl5pPr marL="21717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271899" y="21031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573511" y="210312"/>
            <a:ext cx="1679642" cy="411480"/>
          </a:xfrm>
        </p:spPr>
        <p:txBody>
          <a:body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050D633B-F7DD-475B-8BB7-EA89646A28FF}" type="slidenum">
              <a:rPr lang="en-US" smtClean="0"/>
              <a:t>‹#›</a:t>
            </a:fld>
            <a:endParaRPr lang="en-US"/>
          </a:p>
        </p:txBody>
      </p:sp>
      <p:cxnSp>
        <p:nvCxnSpPr>
          <p:cNvPr id="9" name="Straight Connector 8">
            <a:extLst>
              <a:ext uri="{FF2B5EF4-FFF2-40B4-BE49-F238E27FC236}">
                <a16:creationId xmlns:a16="http://schemas.microsoft.com/office/drawing/2014/main" id="{E7633BE4-C9B9-310C-1EAE-191B5D344B59}"/>
              </a:ext>
            </a:extLst>
          </p:cNvPr>
          <p:cNvCxnSpPr>
            <a:cxnSpLocks/>
          </p:cNvCxnSpPr>
          <p:nvPr/>
        </p:nvCxnSpPr>
        <p:spPr>
          <a:xfrm>
            <a:off x="4923916" y="2452449"/>
            <a:ext cx="7268084" cy="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A010762-96A4-4E1C-CD5D-EE1C1D1FC6E2}"/>
              </a:ext>
            </a:extLst>
          </p:cNvPr>
          <p:cNvCxnSpPr>
            <a:cxnSpLocks/>
          </p:cNvCxnSpPr>
          <p:nvPr/>
        </p:nvCxnSpPr>
        <p:spPr>
          <a:xfrm flipV="1">
            <a:off x="4923916" y="0"/>
            <a:ext cx="0" cy="6858000"/>
          </a:xfrm>
          <a:prstGeom prst="line">
            <a:avLst/>
          </a:prstGeom>
          <a:ln w="9525">
            <a:solidFill>
              <a:schemeClr val="accent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007850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1" y="2077374"/>
            <a:ext cx="4479107" cy="2691413"/>
          </a:xfrm>
        </p:spPr>
        <p:txBody>
          <a:bodyPr vert="horz" lIns="91440" tIns="45720" rIns="91440" bIns="45720" rtlCol="0" anchor="ctr">
            <a:normAutofit/>
          </a:bodyPr>
          <a:lstStyle>
            <a:lvl1pPr>
              <a:defRPr lang="en-US" sz="6600"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F7DEB5EF-910B-9B2B-CB95-1AD374FECAFB}"/>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751577" y="2210542"/>
            <a:ext cx="5869293" cy="2432477"/>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5FD4BD0F-0EF0-D5B9-5485-1ECB765DC5D9}"/>
              </a:ext>
            </a:extLst>
          </p:cNvPr>
          <p:cNvSpPr>
            <a:spLocks noGrp="1"/>
          </p:cNvSpPr>
          <p:nvPr>
            <p:ph type="dt" sz="half" idx="10"/>
          </p:nvPr>
        </p:nvSpPr>
        <p:spPr>
          <a:xfrm>
            <a:off x="5751577" y="207982"/>
            <a:ext cx="1921315" cy="413360"/>
          </a:xfrm>
        </p:spPr>
        <p:txBody>
          <a:bodyPr/>
          <a:lstStyle/>
          <a:p>
            <a:fld id="{F5636E68-B8AE-455B-9579-C9480A2798EE}" type="datetimeFigureOut">
              <a:rPr lang="en-US" smtClean="0"/>
              <a:t>8/14/2026</a:t>
            </a:fld>
            <a:endParaRPr lang="en-US"/>
          </a:p>
        </p:txBody>
      </p:sp>
      <p:sp>
        <p:nvSpPr>
          <p:cNvPr id="12" name="Slide Number Placeholder 11">
            <a:extLst>
              <a:ext uri="{FF2B5EF4-FFF2-40B4-BE49-F238E27FC236}">
                <a16:creationId xmlns:a16="http://schemas.microsoft.com/office/drawing/2014/main" id="{8566B317-2D55-4797-E621-551FCA482D78}"/>
              </a:ext>
            </a:extLst>
          </p:cNvPr>
          <p:cNvSpPr>
            <a:spLocks noGrp="1"/>
          </p:cNvSpPr>
          <p:nvPr>
            <p:ph type="sldNum" sz="quarter" idx="12"/>
          </p:nvPr>
        </p:nvSpPr>
        <p:spPr/>
        <p:txBody>
          <a:bodyPr/>
          <a:lstStyle/>
          <a:p>
            <a:fld id="{050D633B-F7DD-475B-8BB7-EA89646A28FF}"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5311938" y="1550633"/>
            <a:ext cx="0" cy="375673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790D5D6-313A-8ACD-591F-F8BEC510B947}"/>
              </a:ext>
            </a:extLst>
          </p:cNvPr>
          <p:cNvCxnSpPr>
            <a:cxnSpLocks/>
          </p:cNvCxnSpPr>
          <p:nvPr/>
        </p:nvCxnSpPr>
        <p:spPr>
          <a:xfrm>
            <a:off x="0" y="5308844"/>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9F6F1415-3933-6D89-472D-2FA4BBB279E7}"/>
              </a:ext>
            </a:extLst>
          </p:cNvPr>
          <p:cNvCxnSpPr>
            <a:cxnSpLocks/>
          </p:cNvCxnSpPr>
          <p:nvPr/>
        </p:nvCxnSpPr>
        <p:spPr>
          <a:xfrm>
            <a:off x="0" y="155063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22485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93192" y="1249959"/>
            <a:ext cx="4085912" cy="5125673"/>
          </a:xfrm>
        </p:spPr>
        <p:txBody>
          <a:bodyPr vert="horz" lIns="91440" tIns="45720" rIns="91440" bIns="45720" rtlCol="0" anchor="t">
            <a:normAutofit/>
          </a:bodyPr>
          <a:lstStyle>
            <a:lvl1pPr>
              <a:defRPr lang="en-US" sz="66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2A5B8121-E925-2131-A76A-FBDAB0BC9C80}"/>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58384" y="1249959"/>
            <a:ext cx="6440424" cy="5238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DBA5BEFD-7245-BB4D-0F86-F1C3A32E0676}"/>
              </a:ext>
            </a:extLst>
          </p:cNvPr>
          <p:cNvSpPr>
            <a:spLocks noGrp="1"/>
          </p:cNvSpPr>
          <p:nvPr>
            <p:ph type="dt" sz="half" idx="10"/>
          </p:nvPr>
        </p:nvSpPr>
        <p:spPr>
          <a:xfrm>
            <a:off x="5363852" y="207982"/>
            <a:ext cx="1921315" cy="413360"/>
          </a:xfrm>
        </p:spPr>
        <p:txBody>
          <a:bodyPr/>
          <a:lstStyle/>
          <a:p>
            <a:fld id="{F5636E68-B8AE-455B-9579-C9480A2798EE}" type="datetimeFigureOut">
              <a:rPr lang="en-US" smtClean="0"/>
              <a:t>8/14/2026</a:t>
            </a:fld>
            <a:endParaRPr lang="en-US"/>
          </a:p>
        </p:txBody>
      </p:sp>
      <p:sp>
        <p:nvSpPr>
          <p:cNvPr id="10" name="Slide Number Placeholder 9">
            <a:extLst>
              <a:ext uri="{FF2B5EF4-FFF2-40B4-BE49-F238E27FC236}">
                <a16:creationId xmlns:a16="http://schemas.microsoft.com/office/drawing/2014/main" id="{85879897-4AF6-4B38-AB30-8DD979DC52CE}"/>
              </a:ext>
            </a:extLst>
          </p:cNvPr>
          <p:cNvSpPr>
            <a:spLocks noGrp="1"/>
          </p:cNvSpPr>
          <p:nvPr>
            <p:ph type="sldNum" sz="quarter" idx="12"/>
          </p:nvPr>
        </p:nvSpPr>
        <p:spPr/>
        <p:txBody>
          <a:bodyPr/>
          <a:lstStyle/>
          <a:p>
            <a:fld id="{050D633B-F7DD-475B-8BB7-EA89646A28FF}" type="slidenum">
              <a:rPr lang="en-US" smtClean="0"/>
              <a:t>‹#›</a:t>
            </a:fld>
            <a:endParaRPr lang="en-US"/>
          </a:p>
        </p:txBody>
      </p:sp>
      <p:cxnSp>
        <p:nvCxnSpPr>
          <p:cNvPr id="7" name="Straight Connector 6">
            <a:extLst>
              <a:ext uri="{FF2B5EF4-FFF2-40B4-BE49-F238E27FC236}">
                <a16:creationId xmlns:a16="http://schemas.microsoft.com/office/drawing/2014/main" id="{228C01F2-A815-18C2-F49B-D8E165722653}"/>
              </a:ext>
            </a:extLst>
          </p:cNvPr>
          <p:cNvCxnSpPr>
            <a:cxnSpLocks/>
          </p:cNvCxnSpPr>
          <p:nvPr/>
        </p:nvCxnSpPr>
        <p:spPr>
          <a:xfrm>
            <a:off x="4918746" y="805343"/>
            <a:ext cx="0" cy="6052657"/>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5175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5330876" y="749808"/>
            <a:ext cx="6442024" cy="2039112"/>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910328" cy="6858000"/>
          </a:xfrm>
          <a:blipFill>
            <a:blip r:embed="rId2">
              <a:alphaModFix amt="8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5330875"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9609227" y="210312"/>
            <a:ext cx="1679642" cy="411480"/>
          </a:xfrm>
        </p:spPr>
        <p:txBody>
          <a:body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050D633B-F7DD-475B-8BB7-EA89646A28F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5330875" y="2944368"/>
            <a:ext cx="6442025" cy="3571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10328"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1962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4750308" y="612648"/>
            <a:ext cx="7022592"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4342584" cy="6858000"/>
          </a:xfrm>
          <a:blipFill>
            <a:blip r:embed="rId2">
              <a:alphaModFix amt="80000"/>
            </a:blip>
            <a:stretch>
              <a:fillRect/>
            </a:stretch>
          </a:blipFill>
        </p:spPr>
        <p:txBody>
          <a:bodyPr/>
          <a:lstStyle>
            <a:lvl1pPr marL="0" indent="0">
              <a:buNone/>
              <a:defRPr/>
            </a:lvl1pPr>
          </a:lstStyle>
          <a:p>
            <a:r>
              <a:rPr lang="en-US" dirty="0"/>
              <a:t> </a:t>
            </a:r>
          </a:p>
        </p:txBody>
      </p:sp>
      <p:sp>
        <p:nvSpPr>
          <p:cNvPr id="9" name="Footer Placeholder 8">
            <a:extLst>
              <a:ext uri="{FF2B5EF4-FFF2-40B4-BE49-F238E27FC236}">
                <a16:creationId xmlns:a16="http://schemas.microsoft.com/office/drawing/2014/main" id="{CD81791C-036D-058C-0055-96793694D657}"/>
              </a:ext>
            </a:extLst>
          </p:cNvPr>
          <p:cNvSpPr>
            <a:spLocks noGrp="1"/>
          </p:cNvSpPr>
          <p:nvPr>
            <p:ph type="ftr" sz="quarter" idx="15"/>
          </p:nvPr>
        </p:nvSpPr>
        <p:spPr>
          <a:xfrm>
            <a:off x="4750307" y="210312"/>
            <a:ext cx="3531437" cy="413360"/>
          </a:xfrm>
        </p:spPr>
        <p:txBody>
          <a:bodyPr/>
          <a:lstStyle/>
          <a:p>
            <a:endParaRPr lang="en-US"/>
          </a:p>
        </p:txBody>
      </p:sp>
      <p:sp>
        <p:nvSpPr>
          <p:cNvPr id="7" name="Date Placeholder 6">
            <a:extLst>
              <a:ext uri="{FF2B5EF4-FFF2-40B4-BE49-F238E27FC236}">
                <a16:creationId xmlns:a16="http://schemas.microsoft.com/office/drawing/2014/main" id="{E2A8DE5B-9C41-DE5B-BF91-98510120DCFE}"/>
              </a:ext>
            </a:extLst>
          </p:cNvPr>
          <p:cNvSpPr>
            <a:spLocks noGrp="1"/>
          </p:cNvSpPr>
          <p:nvPr>
            <p:ph type="dt" sz="half" idx="14"/>
          </p:nvPr>
        </p:nvSpPr>
        <p:spPr>
          <a:xfrm>
            <a:off x="9582299" y="210312"/>
            <a:ext cx="1679642" cy="413360"/>
          </a:xfrm>
        </p:spPr>
        <p:txBody>
          <a:bodyPr/>
          <a:lstStyle/>
          <a:p>
            <a:fld id="{F5636E68-B8AE-455B-9579-C9480A2798EE}" type="datetimeFigureOut">
              <a:rPr lang="en-US" smtClean="0"/>
              <a:t>8/14/2026</a:t>
            </a:fld>
            <a:endParaRPr lang="en-US"/>
          </a:p>
        </p:txBody>
      </p:sp>
      <p:sp>
        <p:nvSpPr>
          <p:cNvPr id="11" name="Slide Number Placeholder 10">
            <a:extLst>
              <a:ext uri="{FF2B5EF4-FFF2-40B4-BE49-F238E27FC236}">
                <a16:creationId xmlns:a16="http://schemas.microsoft.com/office/drawing/2014/main" id="{0E0FD979-F905-C567-8E21-A3EDCE179803}"/>
              </a:ext>
            </a:extLst>
          </p:cNvPr>
          <p:cNvSpPr>
            <a:spLocks noGrp="1"/>
          </p:cNvSpPr>
          <p:nvPr>
            <p:ph type="sldNum" sz="quarter" idx="16"/>
          </p:nvPr>
        </p:nvSpPr>
        <p:spPr/>
        <p:txBody>
          <a:bodyPr/>
          <a:lstStyle/>
          <a:p>
            <a:fld id="{050D633B-F7DD-475B-8BB7-EA89646A28F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750307" y="1746503"/>
            <a:ext cx="7022592" cy="480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345760"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5145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612648"/>
            <a:ext cx="7015483" cy="103327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Footer Placeholder 10">
            <a:extLst>
              <a:ext uri="{FF2B5EF4-FFF2-40B4-BE49-F238E27FC236}">
                <a16:creationId xmlns:a16="http://schemas.microsoft.com/office/drawing/2014/main" id="{BB59EF2B-7C7F-BA27-16C2-C56B21D3774C}"/>
              </a:ext>
            </a:extLst>
          </p:cNvPr>
          <p:cNvSpPr>
            <a:spLocks noGrp="1"/>
          </p:cNvSpPr>
          <p:nvPr>
            <p:ph type="ftr" sz="quarter" idx="15"/>
          </p:nvPr>
        </p:nvSpPr>
        <p:spPr/>
        <p:txBody>
          <a:bodyPr/>
          <a:lstStyle/>
          <a:p>
            <a:endParaRPr lang="en-US"/>
          </a:p>
        </p:txBody>
      </p:sp>
      <p:sp>
        <p:nvSpPr>
          <p:cNvPr id="9" name="Date Placeholder 8">
            <a:extLst>
              <a:ext uri="{FF2B5EF4-FFF2-40B4-BE49-F238E27FC236}">
                <a16:creationId xmlns:a16="http://schemas.microsoft.com/office/drawing/2014/main" id="{2A99D216-CE5A-6458-A23E-BE0E554AC3D1}"/>
              </a:ext>
            </a:extLst>
          </p:cNvPr>
          <p:cNvSpPr>
            <a:spLocks noGrp="1"/>
          </p:cNvSpPr>
          <p:nvPr>
            <p:ph type="dt" sz="half" idx="14"/>
          </p:nvPr>
        </p:nvSpPr>
        <p:spPr>
          <a:xfrm>
            <a:off x="5224951" y="207982"/>
            <a:ext cx="1682496" cy="413360"/>
          </a:xfrm>
        </p:spPr>
        <p:txBody>
          <a:bodyPr/>
          <a:lstStyle/>
          <a:p>
            <a:fld id="{F5636E68-B8AE-455B-9579-C9480A2798EE}" type="datetimeFigureOut">
              <a:rPr lang="en-US" smtClean="0"/>
              <a:t>8/14/2026</a:t>
            </a:fld>
            <a:endParaRPr lang="en-US"/>
          </a:p>
        </p:txBody>
      </p:sp>
      <p:sp>
        <p:nvSpPr>
          <p:cNvPr id="12" name="Slide Number Placeholder 11">
            <a:extLst>
              <a:ext uri="{FF2B5EF4-FFF2-40B4-BE49-F238E27FC236}">
                <a16:creationId xmlns:a16="http://schemas.microsoft.com/office/drawing/2014/main" id="{3220FA64-3C9A-EBCF-5C28-E7DED40C97DC}"/>
              </a:ext>
            </a:extLst>
          </p:cNvPr>
          <p:cNvSpPr>
            <a:spLocks noGrp="1"/>
          </p:cNvSpPr>
          <p:nvPr>
            <p:ph type="sldNum" sz="quarter" idx="16"/>
          </p:nvPr>
        </p:nvSpPr>
        <p:spPr>
          <a:xfrm>
            <a:off x="6789594" y="207982"/>
            <a:ext cx="546447" cy="413360"/>
          </a:xfrm>
        </p:spPr>
        <p:txBody>
          <a:bodyPr/>
          <a:lstStyle/>
          <a:p>
            <a:fld id="{050D633B-F7DD-475B-8BB7-EA89646A28F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746504"/>
            <a:ext cx="7018271" cy="48066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7773592" y="0"/>
            <a:ext cx="4417215"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776883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2704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17773" y="749808"/>
            <a:ext cx="5778227" cy="103327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969163" y="210312"/>
            <a:ext cx="1679642" cy="411480"/>
          </a:xfrm>
        </p:spPr>
        <p:txBody>
          <a:body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5614093" y="210312"/>
            <a:ext cx="546447" cy="413360"/>
          </a:xfrm>
        </p:spPr>
        <p:txBody>
          <a:bodyPr/>
          <a:lstStyle/>
          <a:p>
            <a:fld id="{050D633B-F7DD-475B-8BB7-EA89646A28F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1993391"/>
            <a:ext cx="5778227" cy="45598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575416" y="0"/>
            <a:ext cx="5616584"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AF4034EB-F498-D527-195A-D17B85027774}"/>
              </a:ext>
            </a:extLst>
          </p:cNvPr>
          <p:cNvCxnSpPr>
            <a:cxnSpLocks/>
          </p:cNvCxnSpPr>
          <p:nvPr/>
        </p:nvCxnSpPr>
        <p:spPr>
          <a:xfrm>
            <a:off x="6570629"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4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749808"/>
            <a:ext cx="4123680" cy="1517904"/>
          </a:xfrm>
        </p:spPr>
        <p:txBody>
          <a:bodyPr vert="horz" lIns="91440" tIns="45720" rIns="91440" bIns="45720" rtlCol="0" anchor="t">
            <a:normAutofit/>
          </a:bodyPr>
          <a:lstStyle>
            <a:lvl1pPr>
              <a:defRPr lang="en-US" sz="4000"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3" y="210312"/>
            <a:ext cx="2260057"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3029329" y="210312"/>
            <a:ext cx="1058111" cy="411480"/>
          </a:xfrm>
        </p:spPr>
        <p:txBody>
          <a:body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4010197" y="210312"/>
            <a:ext cx="440969" cy="413360"/>
          </a:xfrm>
        </p:spPr>
        <p:txBody>
          <a:bodyPr/>
          <a:lstStyle/>
          <a:p>
            <a:fld id="{050D633B-F7DD-475B-8BB7-EA89646A28F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9704" y="2578609"/>
            <a:ext cx="4130606" cy="37124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4912658" y="0"/>
            <a:ext cx="7279341" cy="6858000"/>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51AA34CC-D007-33B7-4604-084E822313A9}"/>
              </a:ext>
            </a:extLst>
          </p:cNvPr>
          <p:cNvCxnSpPr/>
          <p:nvPr/>
        </p:nvCxnSpPr>
        <p:spPr>
          <a:xfrm>
            <a:off x="4907963" y="0"/>
            <a:ext cx="0" cy="685800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00434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49808"/>
            <a:ext cx="11514755" cy="960120"/>
          </a:xfrm>
        </p:spPr>
        <p:txBody>
          <a:bodyPr vert="horz" lIns="91440" tIns="45720" rIns="91440" bIns="45720" rtlCol="0" anchor="t">
            <a:normAutofit/>
          </a:bodyPr>
          <a:lstStyle>
            <a:lvl1pPr>
              <a:defRPr lang="en-US" sz="72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F8890DBE-0DD3-8504-F95F-4225535FB1B9}"/>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734BB28A-95D9-4CE6-DA59-520BA3C61CDB}"/>
              </a:ext>
            </a:extLst>
          </p:cNvPr>
          <p:cNvSpPr>
            <a:spLocks noGrp="1"/>
          </p:cNvSpPr>
          <p:nvPr>
            <p:ph type="dt" sz="half" idx="14"/>
          </p:nvPr>
        </p:nvSpPr>
        <p:spPr/>
        <p:txBody>
          <a:bodyPr/>
          <a:lstStyle/>
          <a:p>
            <a:fld id="{F5636E68-B8AE-455B-9579-C9480A2798EE}" type="datetimeFigureOut">
              <a:rPr lang="en-US" smtClean="0"/>
              <a:t>8/14/2026</a:t>
            </a:fld>
            <a:endParaRPr lang="en-US"/>
          </a:p>
        </p:txBody>
      </p:sp>
      <p:sp>
        <p:nvSpPr>
          <p:cNvPr id="12" name="Slide Number Placeholder 11">
            <a:extLst>
              <a:ext uri="{FF2B5EF4-FFF2-40B4-BE49-F238E27FC236}">
                <a16:creationId xmlns:a16="http://schemas.microsoft.com/office/drawing/2014/main" id="{E1FA0A0C-CE55-CB7D-174D-D77937630A9D}"/>
              </a:ext>
            </a:extLst>
          </p:cNvPr>
          <p:cNvSpPr>
            <a:spLocks noGrp="1"/>
          </p:cNvSpPr>
          <p:nvPr>
            <p:ph type="sldNum" sz="quarter" idx="16"/>
          </p:nvPr>
        </p:nvSpPr>
        <p:spPr/>
        <p:txBody>
          <a:bodyPr/>
          <a:lstStyle/>
          <a:p>
            <a:fld id="{050D633B-F7DD-475B-8BB7-EA89646A28F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3" y="2180556"/>
            <a:ext cx="5012355" cy="428425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5822674" y="1834524"/>
            <a:ext cx="6378722" cy="5023476"/>
          </a:xfrm>
          <a:blipFill>
            <a:blip r:embed="rId2">
              <a:alphaModFix amt="80000"/>
            </a:blip>
            <a:stretch>
              <a:fillRect/>
            </a:stretch>
          </a:blipFill>
        </p:spPr>
        <p:txBody>
          <a:bodyPr/>
          <a:lstStyle>
            <a:lvl1pPr marL="0" indent="0">
              <a:buNone/>
              <a:defRPr/>
            </a:lvl1pPr>
          </a:lstStyle>
          <a:p>
            <a:r>
              <a:rPr lang="en-US" dirty="0"/>
              <a:t> </a:t>
            </a:r>
          </a:p>
        </p:txBody>
      </p:sp>
      <p:cxnSp>
        <p:nvCxnSpPr>
          <p:cNvPr id="8" name="Straight Connector 7">
            <a:extLst>
              <a:ext uri="{FF2B5EF4-FFF2-40B4-BE49-F238E27FC236}">
                <a16:creationId xmlns:a16="http://schemas.microsoft.com/office/drawing/2014/main" id="{6C753443-12E2-4CD3-2C6F-4E20536BA82B}"/>
              </a:ext>
            </a:extLst>
          </p:cNvPr>
          <p:cNvCxnSpPr>
            <a:cxnSpLocks/>
          </p:cNvCxnSpPr>
          <p:nvPr/>
        </p:nvCxnSpPr>
        <p:spPr>
          <a:xfrm>
            <a:off x="5816454" y="1827254"/>
            <a:ext cx="0" cy="504063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89B4AF9B-8CF3-D7A8-CDB9-8E513FFF57EC}"/>
              </a:ext>
            </a:extLst>
          </p:cNvPr>
          <p:cNvCxnSpPr>
            <a:cxnSpLocks/>
          </p:cNvCxnSpPr>
          <p:nvPr/>
        </p:nvCxnSpPr>
        <p:spPr>
          <a:xfrm>
            <a:off x="0" y="1827254"/>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81915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5166364"/>
            <a:ext cx="3656530" cy="122342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0" y="0"/>
            <a:ext cx="12198096" cy="483717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4699121" y="5166364"/>
            <a:ext cx="7073776" cy="1223420"/>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437376"/>
            <a:ext cx="2962656" cy="365125"/>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4699121" y="6437193"/>
            <a:ext cx="4549413" cy="365125"/>
          </a:xfrm>
        </p:spPr>
        <p:txBody>
          <a:body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437376"/>
            <a:ext cx="546447" cy="413360"/>
          </a:xfrm>
        </p:spPr>
        <p:txBody>
          <a:bodyPr/>
          <a:lstStyle/>
          <a:p>
            <a:fld id="{050D633B-F7DD-475B-8BB7-EA89646A28FF}" type="slidenum">
              <a:rPr lang="en-US" smtClean="0"/>
              <a:t>‹#›</a:t>
            </a:fld>
            <a:endParaRPr lang="en-US"/>
          </a:p>
        </p:txBody>
      </p:sp>
      <p:cxnSp>
        <p:nvCxnSpPr>
          <p:cNvPr id="9" name="Straight Connector 8">
            <a:extLst>
              <a:ext uri="{FF2B5EF4-FFF2-40B4-BE49-F238E27FC236}">
                <a16:creationId xmlns:a16="http://schemas.microsoft.com/office/drawing/2014/main" id="{5DF9F6E2-159F-CDF3-F2D3-AB7A7E505C0B}"/>
              </a:ext>
            </a:extLst>
          </p:cNvPr>
          <p:cNvCxnSpPr>
            <a:cxnSpLocks/>
          </p:cNvCxnSpPr>
          <p:nvPr/>
        </p:nvCxnSpPr>
        <p:spPr>
          <a:xfrm>
            <a:off x="4283425" y="4837176"/>
            <a:ext cx="0" cy="2020824"/>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FD4F9120-94C1-CA43-BF4E-9411F4866A20}"/>
              </a:ext>
            </a:extLst>
          </p:cNvPr>
          <p:cNvCxnSpPr>
            <a:cxnSpLocks/>
          </p:cNvCxnSpPr>
          <p:nvPr/>
        </p:nvCxnSpPr>
        <p:spPr>
          <a:xfrm>
            <a:off x="-1250" y="4842106"/>
            <a:ext cx="1219325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36380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762002"/>
            <a:ext cx="6612786" cy="1555895"/>
          </a:xfrm>
        </p:spPr>
        <p:txBody>
          <a:bodyPr vert="horz" lIns="91440" tIns="45720" rIns="91440" bIns="45720" rtlCol="0" anchor="t">
            <a:normAutofit/>
          </a:bodyPr>
          <a:lstStyle>
            <a:lvl1pPr>
              <a:defRPr lang="en-US" sz="6000" dirty="0"/>
            </a:lvl1pPr>
          </a:lstStyle>
          <a:p>
            <a:pPr lvl="0"/>
            <a:r>
              <a:rPr lang="en-US"/>
              <a:t>Click to edit Master title style</a:t>
            </a:r>
            <a:endParaRPr lang="en-US" dirty="0"/>
          </a:p>
        </p:txBody>
      </p:sp>
      <p:sp>
        <p:nvSpPr>
          <p:cNvPr id="9" name="Footer Placeholder 8">
            <a:extLst>
              <a:ext uri="{FF2B5EF4-FFF2-40B4-BE49-F238E27FC236}">
                <a16:creationId xmlns:a16="http://schemas.microsoft.com/office/drawing/2014/main" id="{6A2AC736-2858-40E1-3533-38692573ECE6}"/>
              </a:ext>
            </a:extLst>
          </p:cNvPr>
          <p:cNvSpPr>
            <a:spLocks noGrp="1"/>
          </p:cNvSpPr>
          <p:nvPr>
            <p:ph type="ftr" sz="quarter" idx="15"/>
          </p:nvPr>
        </p:nvSpPr>
        <p:spPr/>
        <p:txBody>
          <a:bodyPr/>
          <a:lstStyle/>
          <a:p>
            <a:endParaRPr lang="en-US"/>
          </a:p>
        </p:txBody>
      </p:sp>
      <p:sp>
        <p:nvSpPr>
          <p:cNvPr id="8" name="Date Placeholder 7">
            <a:extLst>
              <a:ext uri="{FF2B5EF4-FFF2-40B4-BE49-F238E27FC236}">
                <a16:creationId xmlns:a16="http://schemas.microsoft.com/office/drawing/2014/main" id="{6F901C69-26AA-7830-9BFF-EC62E8208AB7}"/>
              </a:ext>
            </a:extLst>
          </p:cNvPr>
          <p:cNvSpPr>
            <a:spLocks noGrp="1"/>
          </p:cNvSpPr>
          <p:nvPr>
            <p:ph type="dt" sz="half" idx="14"/>
          </p:nvPr>
        </p:nvSpPr>
        <p:spPr/>
        <p:txBody>
          <a:bodyPr/>
          <a:lstStyle/>
          <a:p>
            <a:fld id="{F5636E68-B8AE-455B-9579-C9480A2798EE}" type="datetimeFigureOut">
              <a:rPr lang="en-US" smtClean="0"/>
              <a:t>8/14/2026</a:t>
            </a:fld>
            <a:endParaRPr lang="en-US"/>
          </a:p>
        </p:txBody>
      </p:sp>
      <p:sp>
        <p:nvSpPr>
          <p:cNvPr id="11" name="Slide Number Placeholder 10">
            <a:extLst>
              <a:ext uri="{FF2B5EF4-FFF2-40B4-BE49-F238E27FC236}">
                <a16:creationId xmlns:a16="http://schemas.microsoft.com/office/drawing/2014/main" id="{A83EC4C7-2AFC-9797-0F80-FCBABD2A8562}"/>
              </a:ext>
            </a:extLst>
          </p:cNvPr>
          <p:cNvSpPr>
            <a:spLocks noGrp="1"/>
          </p:cNvSpPr>
          <p:nvPr>
            <p:ph type="sldNum" sz="quarter" idx="16"/>
          </p:nvPr>
        </p:nvSpPr>
        <p:spPr/>
        <p:txBody>
          <a:bodyPr/>
          <a:lstStyle/>
          <a:p>
            <a:fld id="{050D633B-F7DD-475B-8BB7-EA89646A28FF}"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6627" y="2435966"/>
            <a:ext cx="7283725" cy="4422032"/>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7680068" y="762000"/>
            <a:ext cx="4092813" cy="579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788F70BF-1865-3761-955D-0621AA22B818}"/>
              </a:ext>
            </a:extLst>
          </p:cNvPr>
          <p:cNvCxnSpPr>
            <a:cxnSpLocks/>
          </p:cNvCxnSpPr>
          <p:nvPr/>
        </p:nvCxnSpPr>
        <p:spPr>
          <a:xfrm>
            <a:off x="0" y="2435966"/>
            <a:ext cx="72771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8638DF4A-7DDF-7C24-D39A-EA7EAF7CFE63}"/>
              </a:ext>
            </a:extLst>
          </p:cNvPr>
          <p:cNvCxnSpPr>
            <a:cxnSpLocks/>
          </p:cNvCxnSpPr>
          <p:nvPr/>
        </p:nvCxnSpPr>
        <p:spPr>
          <a:xfrm>
            <a:off x="7277100" y="0"/>
            <a:ext cx="0" cy="6857999"/>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990149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8" y="448056"/>
            <a:ext cx="11514759" cy="1124712"/>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07982"/>
            <a:ext cx="546447" cy="411480"/>
          </a:xfrm>
        </p:spPr>
        <p:txBody>
          <a:bodyPr/>
          <a:lstStyle/>
          <a:p>
            <a:fld id="{050D633B-F7DD-475B-8BB7-EA89646A28FF}" type="slidenum">
              <a:rPr lang="en-US" smtClean="0"/>
              <a:t>‹#›</a:t>
            </a:fld>
            <a:endParaRPr lang="en-US"/>
          </a:p>
        </p:txBody>
      </p:sp>
      <p:sp>
        <p:nvSpPr>
          <p:cNvPr id="10" name="Picture Placeholder 9">
            <a:extLst>
              <a:ext uri="{FF2B5EF4-FFF2-40B4-BE49-F238E27FC236}">
                <a16:creationId xmlns:a16="http://schemas.microsoft.com/office/drawing/2014/main" id="{8B20793B-4169-98D6-7E6E-52EB5096D05F}"/>
              </a:ext>
            </a:extLst>
          </p:cNvPr>
          <p:cNvSpPr>
            <a:spLocks noGrp="1"/>
          </p:cNvSpPr>
          <p:nvPr>
            <p:ph type="pic" sz="quarter" idx="13" hasCustomPrompt="1"/>
          </p:nvPr>
        </p:nvSpPr>
        <p:spPr>
          <a:xfrm>
            <a:off x="-3614" y="1700784"/>
            <a:ext cx="3318170" cy="5157216"/>
          </a:xfrm>
          <a:blipFill>
            <a:blip r:embed="rId2">
              <a:alphaModFix amt="8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801441" y="2130553"/>
            <a:ext cx="7971459" cy="4422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6C347961-3E7C-FAAC-2283-DA751A80201C}"/>
              </a:ext>
            </a:extLst>
          </p:cNvPr>
          <p:cNvCxnSpPr>
            <a:cxnSpLocks/>
          </p:cNvCxnSpPr>
          <p:nvPr/>
        </p:nvCxnSpPr>
        <p:spPr>
          <a:xfrm>
            <a:off x="0" y="1695518"/>
            <a:ext cx="12192000" cy="0"/>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BE4B3C03-E31F-77F7-02F0-8C25E1C62792}"/>
              </a:ext>
            </a:extLst>
          </p:cNvPr>
          <p:cNvCxnSpPr>
            <a:cxnSpLocks/>
          </p:cNvCxnSpPr>
          <p:nvPr/>
        </p:nvCxnSpPr>
        <p:spPr>
          <a:xfrm>
            <a:off x="3318170" y="1695518"/>
            <a:ext cx="0" cy="5162482"/>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9889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Number Large">
    <p:bg>
      <p:bgPr>
        <a:solidFill>
          <a:schemeClr val="bg2">
            <a:lumMod val="90000"/>
            <a:alpha val="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7571232" y="1188720"/>
            <a:ext cx="4069080" cy="4480560"/>
          </a:xfrm>
        </p:spPr>
        <p:txBody>
          <a:bodyPr anchor="ctr">
            <a:normAutofit/>
          </a:bodyPr>
          <a:lstStyle>
            <a:lvl1pPr>
              <a:lnSpc>
                <a:spcPct val="110000"/>
              </a:lnSpc>
              <a:defRPr sz="2800" cap="none" baseline="0">
                <a:solidFill>
                  <a:schemeClr val="tx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448056" y="1609344"/>
            <a:ext cx="6775704" cy="4151376"/>
          </a:xfrm>
        </p:spPr>
        <p:txBody>
          <a:bodyPr vert="horz" lIns="91440" tIns="45720" rIns="91440" bIns="45720" rtlCol="0" anchor="ctr">
            <a:normAutofit/>
          </a:bodyPr>
          <a:lstStyle>
            <a:lvl1pPr marL="0" indent="0" algn="r">
              <a:lnSpc>
                <a:spcPct val="70000"/>
              </a:lnSpc>
              <a:buNone/>
              <a:defRPr lang="en-US" sz="33400" dirty="0">
                <a:solidFill>
                  <a:schemeClr val="accent1"/>
                </a:solidFill>
                <a:latin typeface="+mj-lt"/>
              </a:defRPr>
            </a:lvl1pPr>
            <a:lvl2pPr marL="457200" indent="0">
              <a:buNone/>
              <a:defRPr lang="en-US" dirty="0">
                <a:solidFill>
                  <a:schemeClr val="accent3">
                    <a:lumMod val="20000"/>
                    <a:lumOff val="80000"/>
                  </a:schemeClr>
                </a:solidFill>
              </a:defRPr>
            </a:lvl2pPr>
            <a:lvl3pPr>
              <a:defRPr lang="en-US" dirty="0">
                <a:solidFill>
                  <a:schemeClr val="accent3">
                    <a:lumMod val="20000"/>
                    <a:lumOff val="80000"/>
                  </a:schemeClr>
                </a:solidFill>
              </a:defRPr>
            </a:lvl3pPr>
            <a:lvl4pPr>
              <a:defRPr lang="en-US" dirty="0">
                <a:solidFill>
                  <a:schemeClr val="accent3">
                    <a:lumMod val="20000"/>
                    <a:lumOff val="80000"/>
                  </a:schemeClr>
                </a:solidFill>
              </a:defRPr>
            </a:lvl4pPr>
            <a:lvl5pPr>
              <a:defRPr lang="en-US" dirty="0">
                <a:solidFill>
                  <a:schemeClr val="accent3">
                    <a:lumMod val="20000"/>
                    <a:lumOff val="80000"/>
                  </a:schemeClr>
                </a:solidFill>
              </a:defRPr>
            </a:lvl5pPr>
          </a:lstStyle>
          <a:p>
            <a:pPr lvl="0"/>
            <a:r>
              <a:rPr lang="en-US" dirty="0"/>
              <a:t>#%</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normAutofit/>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normAutofit/>
          </a:bodyPr>
          <a:lstStyle>
            <a:lvl1pPr>
              <a:defRPr>
                <a:solidFill>
                  <a:schemeClr val="tx2"/>
                </a:solidFill>
              </a:defRPr>
            </a:lvl1p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normAutofit/>
          </a:bodyPr>
          <a:lstStyle>
            <a:lvl1pPr>
              <a:defRPr>
                <a:solidFill>
                  <a:schemeClr val="tx2"/>
                </a:solidFill>
              </a:defRPr>
            </a:lvl1pPr>
          </a:lstStyle>
          <a:p>
            <a:fld id="{050D633B-F7DD-475B-8BB7-EA89646A28FF}" type="slidenum">
              <a:rPr lang="en-US" smtClean="0"/>
              <a:t>‹#›</a:t>
            </a:fld>
            <a:endParaRPr lang="en-US"/>
          </a:p>
        </p:txBody>
      </p:sp>
      <p:cxnSp>
        <p:nvCxnSpPr>
          <p:cNvPr id="10" name="Straight Connector 9">
            <a:extLst>
              <a:ext uri="{FF2B5EF4-FFF2-40B4-BE49-F238E27FC236}">
                <a16:creationId xmlns:a16="http://schemas.microsoft.com/office/drawing/2014/main" id="{C34144DB-F44E-C5EB-68A1-D39E3F401C4E}"/>
              </a:ext>
            </a:extLst>
          </p:cNvPr>
          <p:cNvCxnSpPr>
            <a:cxnSpLocks/>
          </p:cNvCxnSpPr>
          <p:nvPr/>
        </p:nvCxnSpPr>
        <p:spPr>
          <a:xfrm>
            <a:off x="0" y="6069441"/>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9548046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tement">
    <p:bg>
      <p:bgPr>
        <a:solidFill>
          <a:schemeClr val="bg2">
            <a:lumMod val="9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17773" y="914400"/>
            <a:ext cx="10045427" cy="4464554"/>
          </a:xfrm>
        </p:spPr>
        <p:txBody>
          <a:bodyPr anchor="ctr">
            <a:noAutofit/>
          </a:bodyPr>
          <a:lstStyle>
            <a:lvl1pPr marL="0" indent="0">
              <a:lnSpc>
                <a:spcPct val="75000"/>
              </a:lnSpc>
              <a:buNone/>
              <a:defRPr sz="8800" b="0">
                <a:solidFill>
                  <a:schemeClr val="tx2"/>
                </a:solidFill>
                <a:latin typeface="+mj-lt"/>
              </a:defRPr>
            </a:lvl1pPr>
            <a:lvl2pPr marL="228600" indent="0">
              <a:lnSpc>
                <a:spcPct val="100000"/>
              </a:lnSpc>
              <a:buNone/>
              <a:defRPr sz="8000" b="0">
                <a:solidFill>
                  <a:schemeClr val="tx2"/>
                </a:solidFill>
                <a:latin typeface="+mj-lt"/>
              </a:defRPr>
            </a:lvl2pPr>
            <a:lvl3pPr marL="457200" indent="0">
              <a:lnSpc>
                <a:spcPct val="100000"/>
              </a:lnSpc>
              <a:buNone/>
              <a:defRPr sz="7200" b="0">
                <a:solidFill>
                  <a:schemeClr val="tx2"/>
                </a:solidFill>
                <a:latin typeface="+mj-lt"/>
              </a:defRPr>
            </a:lvl3pPr>
            <a:lvl4pPr marL="685800" indent="0">
              <a:lnSpc>
                <a:spcPct val="100000"/>
              </a:lnSpc>
              <a:buNone/>
              <a:defRPr sz="6600" b="0">
                <a:solidFill>
                  <a:schemeClr val="tx2"/>
                </a:solidFill>
                <a:latin typeface="+mj-lt"/>
              </a:defRPr>
            </a:lvl4pPr>
            <a:lvl5pPr marL="914400" indent="0">
              <a:lnSpc>
                <a:spcPct val="100000"/>
              </a:lnSpc>
              <a:buNone/>
              <a:defRPr sz="60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317773" y="6263640"/>
            <a:ext cx="2963692" cy="413360"/>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7680069" y="6263640"/>
            <a:ext cx="1921315" cy="413360"/>
          </a:xfrm>
        </p:spPr>
        <p:txBody>
          <a:bodyPr/>
          <a:lstStyle/>
          <a:p>
            <a:fld id="{F5636E68-B8AE-455B-9579-C9480A2798EE}" type="datetimeFigureOut">
              <a:rPr lang="en-US" smtClean="0"/>
              <a:t>8/14/2026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288870" y="6263640"/>
            <a:ext cx="546447" cy="413360"/>
          </a:xfrm>
        </p:spPr>
        <p:txBody>
          <a:bodyPr/>
          <a:lstStyle/>
          <a:p>
            <a:fld id="{050D633B-F7DD-475B-8BB7-EA89646A28FF}" type="slidenum">
              <a:rPr lang="en-US" smtClean="0"/>
              <a:t>‹#›</a:t>
            </a:fld>
            <a:endParaRPr lang="en-US"/>
          </a:p>
        </p:txBody>
      </p:sp>
      <p:cxnSp>
        <p:nvCxnSpPr>
          <p:cNvPr id="6" name="Straight Connector 5">
            <a:extLst>
              <a:ext uri="{FF2B5EF4-FFF2-40B4-BE49-F238E27FC236}">
                <a16:creationId xmlns:a16="http://schemas.microsoft.com/office/drawing/2014/main" id="{1A935D4C-A027-60A0-BEB8-B1A89C1C5E3A}"/>
              </a:ext>
            </a:extLst>
          </p:cNvPr>
          <p:cNvCxnSpPr>
            <a:cxnSpLocks/>
          </p:cNvCxnSpPr>
          <p:nvPr/>
        </p:nvCxnSpPr>
        <p:spPr>
          <a:xfrm>
            <a:off x="0" y="6057900"/>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5932125"/>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Quot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hasCustomPrompt="1"/>
          </p:nvPr>
        </p:nvSpPr>
        <p:spPr>
          <a:xfrm>
            <a:off x="713232" y="5440220"/>
            <a:ext cx="9299448" cy="1015996"/>
          </a:xfrm>
        </p:spPr>
        <p:txBody>
          <a:bodyPr anchor="ctr">
            <a:normAutofit/>
          </a:bodyPr>
          <a:lstStyle>
            <a:lvl1pPr>
              <a:defRPr sz="2000" cap="none"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hasCustomPrompt="1"/>
          </p:nvPr>
        </p:nvSpPr>
        <p:spPr>
          <a:xfrm>
            <a:off x="320040" y="1170816"/>
            <a:ext cx="9692640" cy="3872159"/>
          </a:xfrm>
        </p:spPr>
        <p:txBody>
          <a:bodyPr>
            <a:normAutofit/>
          </a:bodyPr>
          <a:lstStyle>
            <a:lvl1pPr marL="274320" indent="-274320">
              <a:lnSpc>
                <a:spcPct val="70000"/>
              </a:lnSpc>
              <a:buNone/>
              <a:defRPr sz="8800" cap="all" baseline="0">
                <a:solidFill>
                  <a:schemeClr val="tx2"/>
                </a:solidFill>
                <a:latin typeface="+mj-lt"/>
              </a:defRPr>
            </a:lvl1pPr>
            <a:lvl2pPr marL="274320" indent="-274320">
              <a:lnSpc>
                <a:spcPct val="70000"/>
              </a:lnSpc>
              <a:buNone/>
              <a:defRPr sz="8000" cap="all" baseline="0">
                <a:solidFill>
                  <a:schemeClr val="accent2">
                    <a:lumMod val="20000"/>
                    <a:lumOff val="80000"/>
                  </a:schemeClr>
                </a:solidFill>
                <a:latin typeface="+mj-lt"/>
              </a:defRPr>
            </a:lvl2pPr>
            <a:lvl3pPr marL="274320" indent="-274320">
              <a:lnSpc>
                <a:spcPct val="70000"/>
              </a:lnSpc>
              <a:buNone/>
              <a:defRPr sz="7200" cap="all" baseline="0">
                <a:solidFill>
                  <a:schemeClr val="accent2">
                    <a:lumMod val="20000"/>
                    <a:lumOff val="80000"/>
                  </a:schemeClr>
                </a:solidFill>
                <a:latin typeface="+mj-lt"/>
              </a:defRPr>
            </a:lvl3pPr>
            <a:lvl4pPr marL="274320" indent="-274320">
              <a:lnSpc>
                <a:spcPct val="70000"/>
              </a:lnSpc>
              <a:buNone/>
              <a:defRPr sz="6600" cap="all" baseline="0">
                <a:solidFill>
                  <a:schemeClr val="accent2">
                    <a:lumMod val="20000"/>
                    <a:lumOff val="80000"/>
                  </a:schemeClr>
                </a:solidFill>
                <a:latin typeface="+mj-lt"/>
              </a:defRPr>
            </a:lvl4pPr>
            <a:lvl5pPr marL="274320" indent="-274320">
              <a:lnSpc>
                <a:spcPct val="70000"/>
              </a:lnSpc>
              <a:buNone/>
              <a:defRPr sz="6600" cap="all" baseline="0">
                <a:solidFill>
                  <a:schemeClr val="accent2">
                    <a:lumMod val="20000"/>
                    <a:lumOff val="80000"/>
                  </a:schemeClr>
                </a:solidFill>
                <a:latin typeface="+mj-lt"/>
              </a:defRPr>
            </a:lvl5pPr>
          </a:lstStyle>
          <a:p>
            <a:pPr lvl="0"/>
            <a:r>
              <a:rPr lang="en-US" dirty="0"/>
              <a:t>Click to edit quote</a:t>
            </a:r>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0312"/>
            <a:ext cx="2962656" cy="41148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2443788" cy="411480"/>
          </a:xfrm>
        </p:spPr>
        <p:txBody>
          <a:bodyPr/>
          <a:lstStyle>
            <a:lvl1pPr>
              <a:defRPr>
                <a:solidFill>
                  <a:schemeClr val="tx2"/>
                </a:solidFill>
              </a:defRPr>
            </a:lvl1p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210312"/>
            <a:ext cx="546447" cy="411480"/>
          </a:xfrm>
        </p:spPr>
        <p:txBody>
          <a:bodyPr/>
          <a:lstStyle>
            <a:lvl1pPr>
              <a:defRPr>
                <a:solidFill>
                  <a:schemeClr val="tx2"/>
                </a:solidFill>
              </a:defRPr>
            </a:lvl1pPr>
          </a:lstStyle>
          <a:p>
            <a:fld id="{050D633B-F7DD-475B-8BB7-EA89646A28FF}" type="slidenum">
              <a:rPr lang="en-US" smtClean="0"/>
              <a:t>‹#›</a:t>
            </a:fld>
            <a:endParaRPr lang="en-US"/>
          </a:p>
        </p:txBody>
      </p:sp>
      <p:cxnSp>
        <p:nvCxnSpPr>
          <p:cNvPr id="9" name="Straight Connector 8">
            <a:extLst>
              <a:ext uri="{FF2B5EF4-FFF2-40B4-BE49-F238E27FC236}">
                <a16:creationId xmlns:a16="http://schemas.microsoft.com/office/drawing/2014/main" id="{1660C7B9-B6D9-6FB6-59EE-D9DB3BC93758}"/>
              </a:ext>
            </a:extLst>
          </p:cNvPr>
          <p:cNvCxnSpPr>
            <a:cxnSpLocks/>
          </p:cNvCxnSpPr>
          <p:nvPr/>
        </p:nvCxnSpPr>
        <p:spPr>
          <a:xfrm flipH="1">
            <a:off x="0" y="787179"/>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C15D9130-12F6-DFB8-70EF-9ACBA9FDECB0}"/>
              </a:ext>
            </a:extLst>
          </p:cNvPr>
          <p:cNvCxnSpPr>
            <a:cxnSpLocks/>
          </p:cNvCxnSpPr>
          <p:nvPr/>
        </p:nvCxnSpPr>
        <p:spPr>
          <a:xfrm>
            <a:off x="0" y="5274530"/>
            <a:ext cx="12192000" cy="0"/>
          </a:xfrm>
          <a:prstGeom prst="line">
            <a:avLst/>
          </a:prstGeom>
          <a:ln w="9525">
            <a:solidFill>
              <a:schemeClr val="bg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5364931"/>
      </p:ext>
    </p:extLst>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594AB-EF90-9591-5954-F617B83D139F}"/>
              </a:ext>
            </a:extLst>
          </p:cNvPr>
          <p:cNvSpPr>
            <a:spLocks noGrp="1"/>
          </p:cNvSpPr>
          <p:nvPr>
            <p:ph type="title"/>
          </p:nvPr>
        </p:nvSpPr>
        <p:spPr>
          <a:xfrm>
            <a:off x="320559" y="685800"/>
            <a:ext cx="11253668" cy="66569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0" name="Footer Placeholder 9">
            <a:extLst>
              <a:ext uri="{FF2B5EF4-FFF2-40B4-BE49-F238E27FC236}">
                <a16:creationId xmlns:a16="http://schemas.microsoft.com/office/drawing/2014/main" id="{96A57BED-3AFE-6AA9-E0D5-586748D61F6A}"/>
              </a:ext>
            </a:extLst>
          </p:cNvPr>
          <p:cNvSpPr>
            <a:spLocks noGrp="1"/>
          </p:cNvSpPr>
          <p:nvPr>
            <p:ph type="ftr" sz="quarter" idx="11"/>
          </p:nvPr>
        </p:nvSpPr>
        <p:spPr/>
        <p:txBody>
          <a:bodyPr/>
          <a:lstStyle/>
          <a:p>
            <a:endParaRPr lang="en-US"/>
          </a:p>
        </p:txBody>
      </p:sp>
      <p:sp>
        <p:nvSpPr>
          <p:cNvPr id="9" name="Date Placeholder 8">
            <a:extLst>
              <a:ext uri="{FF2B5EF4-FFF2-40B4-BE49-F238E27FC236}">
                <a16:creationId xmlns:a16="http://schemas.microsoft.com/office/drawing/2014/main" id="{47C21221-DC95-273B-0C4F-43B35ADA1C0E}"/>
              </a:ext>
            </a:extLst>
          </p:cNvPr>
          <p:cNvSpPr>
            <a:spLocks noGrp="1"/>
          </p:cNvSpPr>
          <p:nvPr>
            <p:ph type="dt" sz="half" idx="10"/>
          </p:nvPr>
        </p:nvSpPr>
        <p:spPr/>
        <p:txBody>
          <a:bodyPr/>
          <a:lstStyle/>
          <a:p>
            <a:fld id="{F5636E68-B8AE-455B-9579-C9480A2798EE}" type="datetimeFigureOut">
              <a:rPr lang="en-US" smtClean="0"/>
              <a:t>8/14/2026</a:t>
            </a:fld>
            <a:endParaRPr lang="en-US"/>
          </a:p>
        </p:txBody>
      </p:sp>
      <p:sp>
        <p:nvSpPr>
          <p:cNvPr id="11" name="Slide Number Placeholder 10">
            <a:extLst>
              <a:ext uri="{FF2B5EF4-FFF2-40B4-BE49-F238E27FC236}">
                <a16:creationId xmlns:a16="http://schemas.microsoft.com/office/drawing/2014/main" id="{2E44E859-99AA-D46F-1AD8-4C0F287F3783}"/>
              </a:ext>
            </a:extLst>
          </p:cNvPr>
          <p:cNvSpPr>
            <a:spLocks noGrp="1"/>
          </p:cNvSpPr>
          <p:nvPr>
            <p:ph type="sldNum" sz="quarter" idx="12"/>
          </p:nvPr>
        </p:nvSpPr>
        <p:spPr/>
        <p:txBody>
          <a:bodyPr/>
          <a:lstStyle/>
          <a:p>
            <a:fld id="{050D633B-F7DD-475B-8BB7-EA89646A28FF}" type="slidenum">
              <a:rPr lang="en-US" smtClean="0"/>
              <a:t>‹#›</a:t>
            </a:fld>
            <a:endParaRPr lang="en-US"/>
          </a:p>
        </p:txBody>
      </p:sp>
      <p:sp>
        <p:nvSpPr>
          <p:cNvPr id="3" name="Content Placeholder 2">
            <a:extLst>
              <a:ext uri="{FF2B5EF4-FFF2-40B4-BE49-F238E27FC236}">
                <a16:creationId xmlns:a16="http://schemas.microsoft.com/office/drawing/2014/main" id="{F2C3231F-0FFC-E2BB-36F8-9816E4DECEB6}"/>
              </a:ext>
            </a:extLst>
          </p:cNvPr>
          <p:cNvSpPr>
            <a:spLocks noGrp="1"/>
          </p:cNvSpPr>
          <p:nvPr>
            <p:ph sz="half" idx="1"/>
          </p:nvPr>
        </p:nvSpPr>
        <p:spPr>
          <a:xfrm>
            <a:off x="317773" y="1773857"/>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93CC2C1-ED8C-D52E-BEF5-671EDC62385A}"/>
              </a:ext>
            </a:extLst>
          </p:cNvPr>
          <p:cNvSpPr>
            <a:spLocks noGrp="1"/>
          </p:cNvSpPr>
          <p:nvPr>
            <p:ph sz="half" idx="2"/>
          </p:nvPr>
        </p:nvSpPr>
        <p:spPr>
          <a:xfrm>
            <a:off x="6224987" y="1773858"/>
            <a:ext cx="5349240" cy="4453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8" name="Straight Connector 7">
            <a:extLst>
              <a:ext uri="{FF2B5EF4-FFF2-40B4-BE49-F238E27FC236}">
                <a16:creationId xmlns:a16="http://schemas.microsoft.com/office/drawing/2014/main" id="{2397169B-5226-712F-36F4-352E56B637D4}"/>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71803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958D-8125-1BDA-53C9-9E2D338832F5}"/>
              </a:ext>
            </a:extLst>
          </p:cNvPr>
          <p:cNvSpPr>
            <a:spLocks noGrp="1"/>
          </p:cNvSpPr>
          <p:nvPr>
            <p:ph type="title"/>
          </p:nvPr>
        </p:nvSpPr>
        <p:spPr>
          <a:xfrm>
            <a:off x="317772" y="685800"/>
            <a:ext cx="11256264" cy="66751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Footer Placeholder 7">
            <a:extLst>
              <a:ext uri="{FF2B5EF4-FFF2-40B4-BE49-F238E27FC236}">
                <a16:creationId xmlns:a16="http://schemas.microsoft.com/office/drawing/2014/main" id="{7D294A4A-89C4-68BF-6701-5C47F940E3D6}"/>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977908BC-F48B-81E4-8D93-7DB9E37161B6}"/>
              </a:ext>
            </a:extLst>
          </p:cNvPr>
          <p:cNvSpPr>
            <a:spLocks noGrp="1"/>
          </p:cNvSpPr>
          <p:nvPr>
            <p:ph type="dt" sz="half" idx="10"/>
          </p:nvPr>
        </p:nvSpPr>
        <p:spPr/>
        <p:txBody>
          <a:bodyPr/>
          <a:lstStyle/>
          <a:p>
            <a:fld id="{F5636E68-B8AE-455B-9579-C9480A2798EE}" type="datetimeFigureOut">
              <a:rPr lang="en-US" smtClean="0"/>
              <a:t>8/14/2026</a:t>
            </a:fld>
            <a:endParaRPr lang="en-US"/>
          </a:p>
        </p:txBody>
      </p:sp>
      <p:sp>
        <p:nvSpPr>
          <p:cNvPr id="9" name="Slide Number Placeholder 8">
            <a:extLst>
              <a:ext uri="{FF2B5EF4-FFF2-40B4-BE49-F238E27FC236}">
                <a16:creationId xmlns:a16="http://schemas.microsoft.com/office/drawing/2014/main" id="{27F93A54-CB38-BEAF-260B-84EDDF3011D2}"/>
              </a:ext>
            </a:extLst>
          </p:cNvPr>
          <p:cNvSpPr>
            <a:spLocks noGrp="1"/>
          </p:cNvSpPr>
          <p:nvPr>
            <p:ph type="sldNum" sz="quarter" idx="12"/>
          </p:nvPr>
        </p:nvSpPr>
        <p:spPr/>
        <p:txBody>
          <a:bodyPr/>
          <a:lstStyle/>
          <a:p>
            <a:fld id="{050D633B-F7DD-475B-8BB7-EA89646A28FF}" type="slidenum">
              <a:rPr lang="en-US" smtClean="0"/>
              <a:t>‹#›</a:t>
            </a:fld>
            <a:endParaRPr lang="en-US"/>
          </a:p>
        </p:txBody>
      </p:sp>
      <p:sp>
        <p:nvSpPr>
          <p:cNvPr id="3" name="Text Placeholder 2">
            <a:extLst>
              <a:ext uri="{FF2B5EF4-FFF2-40B4-BE49-F238E27FC236}">
                <a16:creationId xmlns:a16="http://schemas.microsoft.com/office/drawing/2014/main" id="{7709FF10-A82A-AAEB-4B8C-921F3BA2028E}"/>
              </a:ext>
            </a:extLst>
          </p:cNvPr>
          <p:cNvSpPr>
            <a:spLocks noGrp="1"/>
          </p:cNvSpPr>
          <p:nvPr>
            <p:ph type="body" idx="1"/>
          </p:nvPr>
        </p:nvSpPr>
        <p:spPr>
          <a:xfrm>
            <a:off x="317773" y="1773857"/>
            <a:ext cx="5349064"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4D3C6A-509A-8CB1-B220-1CE755BE2FE8}"/>
              </a:ext>
            </a:extLst>
          </p:cNvPr>
          <p:cNvSpPr>
            <a:spLocks noGrp="1"/>
          </p:cNvSpPr>
          <p:nvPr>
            <p:ph sz="half" idx="2"/>
          </p:nvPr>
        </p:nvSpPr>
        <p:spPr>
          <a:xfrm>
            <a:off x="317773" y="2368476"/>
            <a:ext cx="5349064"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A627A15-4AB2-F230-22C7-0605AFD7DF22}"/>
              </a:ext>
            </a:extLst>
          </p:cNvPr>
          <p:cNvSpPr>
            <a:spLocks noGrp="1"/>
          </p:cNvSpPr>
          <p:nvPr>
            <p:ph type="body" sz="quarter" idx="3"/>
          </p:nvPr>
        </p:nvSpPr>
        <p:spPr>
          <a:xfrm>
            <a:off x="6224796" y="1773857"/>
            <a:ext cx="5349240" cy="590144"/>
          </a:xfrm>
        </p:spPr>
        <p:txBody>
          <a:bodyPr anchor="b">
            <a:normAutofit/>
          </a:bodyPr>
          <a:lstStyle>
            <a:lvl1pPr marL="0" indent="0">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61ECFD5-92D0-1854-D18E-8BC5DF56A70E}"/>
              </a:ext>
            </a:extLst>
          </p:cNvPr>
          <p:cNvSpPr>
            <a:spLocks noGrp="1"/>
          </p:cNvSpPr>
          <p:nvPr>
            <p:ph sz="quarter" idx="4"/>
          </p:nvPr>
        </p:nvSpPr>
        <p:spPr>
          <a:xfrm>
            <a:off x="6224796" y="2368476"/>
            <a:ext cx="5349240" cy="3858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3D1AC07E-A077-E2A6-1718-DDDA542A8A98}"/>
              </a:ext>
            </a:extLst>
          </p:cNvPr>
          <p:cNvCxnSpPr>
            <a:cxnSpLocks/>
          </p:cNvCxnSpPr>
          <p:nvPr/>
        </p:nvCxnSpPr>
        <p:spPr>
          <a:xfrm>
            <a:off x="0" y="1442826"/>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40466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17042-CDCB-3B2F-8C5B-24B17903E7D2}"/>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3BA4C6AE-702E-258F-EA5E-02906C70DFD8}"/>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2339AE3-ADB1-728F-9FBA-2FD43A0AC300}"/>
              </a:ext>
            </a:extLst>
          </p:cNvPr>
          <p:cNvSpPr>
            <a:spLocks noGrp="1"/>
          </p:cNvSpPr>
          <p:nvPr>
            <p:ph type="dt" sz="half" idx="10"/>
          </p:nvPr>
        </p:nvSpPr>
        <p:spPr/>
        <p:txBody>
          <a:bodyPr/>
          <a:lstStyle/>
          <a:p>
            <a:fld id="{F5636E68-B8AE-455B-9579-C9480A2798EE}" type="datetimeFigureOut">
              <a:rPr lang="en-US" smtClean="0"/>
              <a:t>8/14/2026</a:t>
            </a:fld>
            <a:endParaRPr lang="en-US"/>
          </a:p>
        </p:txBody>
      </p:sp>
      <p:sp>
        <p:nvSpPr>
          <p:cNvPr id="5" name="Slide Number Placeholder 4">
            <a:extLst>
              <a:ext uri="{FF2B5EF4-FFF2-40B4-BE49-F238E27FC236}">
                <a16:creationId xmlns:a16="http://schemas.microsoft.com/office/drawing/2014/main" id="{FD965F4B-E6CF-D83A-1F1B-81274FD57428}"/>
              </a:ext>
            </a:extLst>
          </p:cNvPr>
          <p:cNvSpPr>
            <a:spLocks noGrp="1"/>
          </p:cNvSpPr>
          <p:nvPr>
            <p:ph type="sldNum" sz="quarter" idx="12"/>
          </p:nvPr>
        </p:nvSpPr>
        <p:spPr/>
        <p:txBody>
          <a:bodyPr/>
          <a:lstStyle/>
          <a:p>
            <a:fld id="{050D633B-F7DD-475B-8BB7-EA89646A28FF}" type="slidenum">
              <a:rPr lang="en-US" smtClean="0"/>
              <a:t>‹#›</a:t>
            </a:fld>
            <a:endParaRPr lang="en-US"/>
          </a:p>
        </p:txBody>
      </p:sp>
    </p:spTree>
    <p:extLst>
      <p:ext uri="{BB962C8B-B14F-4D97-AF65-F5344CB8AC3E}">
        <p14:creationId xmlns:p14="http://schemas.microsoft.com/office/powerpoint/2010/main" val="32896642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5E52550-02A6-D7FB-DD57-70C87BAA4FE2}"/>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B402D272-B561-7F82-06FB-C5DE719AAE9A}"/>
              </a:ext>
            </a:extLst>
          </p:cNvPr>
          <p:cNvSpPr>
            <a:spLocks noGrp="1"/>
          </p:cNvSpPr>
          <p:nvPr>
            <p:ph type="dt" sz="half" idx="10"/>
          </p:nvPr>
        </p:nvSpPr>
        <p:spPr/>
        <p:txBody>
          <a:bodyPr/>
          <a:lstStyle/>
          <a:p>
            <a:fld id="{F5636E68-B8AE-455B-9579-C9480A2798EE}" type="datetimeFigureOut">
              <a:rPr lang="en-US" smtClean="0"/>
              <a:t>8/14/2026</a:t>
            </a:fld>
            <a:endParaRPr lang="en-US"/>
          </a:p>
        </p:txBody>
      </p:sp>
      <p:sp>
        <p:nvSpPr>
          <p:cNvPr id="4" name="Slide Number Placeholder 3">
            <a:extLst>
              <a:ext uri="{FF2B5EF4-FFF2-40B4-BE49-F238E27FC236}">
                <a16:creationId xmlns:a16="http://schemas.microsoft.com/office/drawing/2014/main" id="{A7EF0FF0-3A36-A128-D75E-71A4B54CB6CD}"/>
              </a:ext>
            </a:extLst>
          </p:cNvPr>
          <p:cNvSpPr>
            <a:spLocks noGrp="1"/>
          </p:cNvSpPr>
          <p:nvPr>
            <p:ph type="sldNum" sz="quarter" idx="12"/>
          </p:nvPr>
        </p:nvSpPr>
        <p:spPr/>
        <p:txBody>
          <a:bodyPr/>
          <a:lstStyle/>
          <a:p>
            <a:fld id="{050D633B-F7DD-475B-8BB7-EA89646A28FF}" type="slidenum">
              <a:rPr lang="en-US" smtClean="0"/>
              <a:t>‹#›</a:t>
            </a:fld>
            <a:endParaRPr lang="en-US"/>
          </a:p>
        </p:txBody>
      </p:sp>
    </p:spTree>
    <p:extLst>
      <p:ext uri="{BB962C8B-B14F-4D97-AF65-F5344CB8AC3E}">
        <p14:creationId xmlns:p14="http://schemas.microsoft.com/office/powerpoint/2010/main" val="9818791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clusion">
    <p:bg>
      <p:bgRef idx="1001">
        <a:schemeClr val="bg2"/>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18A45ECA-9413-0F81-085A-48CF6F23E1DC}"/>
              </a:ext>
            </a:extLst>
          </p:cNvPr>
          <p:cNvCxnSpPr>
            <a:cxnSpLocks/>
          </p:cNvCxnSpPr>
          <p:nvPr/>
        </p:nvCxnSpPr>
        <p:spPr>
          <a:xfrm>
            <a:off x="0" y="2118492"/>
            <a:ext cx="12192000" cy="0"/>
          </a:xfrm>
          <a:prstGeom prst="line">
            <a:avLst/>
          </a:prstGeom>
          <a:ln w="9525">
            <a:solidFill>
              <a:schemeClr val="tx1">
                <a:lumMod val="85000"/>
              </a:schemeClr>
            </a:solidFill>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59" y="832104"/>
            <a:ext cx="11253668" cy="1225296"/>
          </a:xfrm>
        </p:spPr>
        <p:txBody>
          <a:bodyPr>
            <a:normAutofit/>
          </a:bodyPr>
          <a:lstStyle>
            <a:lvl1pPr>
              <a:defRPr sz="8800">
                <a:solidFill>
                  <a:schemeClr val="tx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6263640"/>
            <a:ext cx="2962656" cy="411480"/>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1" y="6263640"/>
            <a:ext cx="1933553" cy="411480"/>
          </a:xfrm>
        </p:spPr>
        <p:txBody>
          <a:bodyPr/>
          <a:lstStyle>
            <a:lvl1pPr>
              <a:defRPr>
                <a:solidFill>
                  <a:schemeClr val="tx2"/>
                </a:solidFill>
              </a:defRPr>
            </a:lvl1p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a:xfrm>
            <a:off x="11288870" y="6263640"/>
            <a:ext cx="546447" cy="413360"/>
          </a:xfrm>
        </p:spPr>
        <p:txBody>
          <a:bodyPr/>
          <a:lstStyle>
            <a:lvl1pPr>
              <a:defRPr>
                <a:solidFill>
                  <a:schemeClr val="tx2"/>
                </a:solidFill>
              </a:defRPr>
            </a:lvl1pPr>
          </a:lstStyle>
          <a:p>
            <a:fld id="{050D633B-F7DD-475B-8BB7-EA89646A28FF}" type="slidenum">
              <a:rPr lang="en-US" smtClean="0"/>
              <a:t>‹#›</a:t>
            </a:fld>
            <a:endParaRPr lang="en-US"/>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20557" y="3429001"/>
            <a:ext cx="11253669" cy="2773546"/>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2483351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7A09BB-8293-7DED-F5BF-8F3DA4B5760B}"/>
              </a:ext>
            </a:extLst>
          </p:cNvPr>
          <p:cNvSpPr>
            <a:spLocks noGrp="1"/>
          </p:cNvSpPr>
          <p:nvPr>
            <p:ph type="title"/>
          </p:nvPr>
        </p:nvSpPr>
        <p:spPr>
          <a:xfrm>
            <a:off x="320560" y="1270390"/>
            <a:ext cx="7929980" cy="2060888"/>
          </a:xfrm>
        </p:spPr>
        <p:txBody>
          <a:bodyPr>
            <a:normAutofit/>
          </a:bodyPr>
          <a:lstStyle>
            <a:lvl1pPr>
              <a:defRPr sz="88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D0AB536-3625-6C4C-BCE1-4533963FDEC5}"/>
              </a:ext>
            </a:extLst>
          </p:cNvPr>
          <p:cNvSpPr>
            <a:spLocks noGrp="1"/>
          </p:cNvSpPr>
          <p:nvPr>
            <p:ph idx="1"/>
          </p:nvPr>
        </p:nvSpPr>
        <p:spPr>
          <a:xfrm>
            <a:off x="317775" y="3794761"/>
            <a:ext cx="7932765" cy="1531091"/>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97D1377-BC65-5D42-5EC9-BECE6F765322}"/>
              </a:ext>
            </a:extLst>
          </p:cNvPr>
          <p:cNvSpPr>
            <a:spLocks noGrp="1"/>
          </p:cNvSpPr>
          <p:nvPr>
            <p:ph type="ftr" sz="quarter" idx="11"/>
          </p:nvPr>
        </p:nvSpPr>
        <p:spPr>
          <a:xfrm>
            <a:off x="317772" y="213482"/>
            <a:ext cx="2962656" cy="411480"/>
          </a:xfrm>
        </p:spPr>
        <p:txBody>
          <a:bodyPr/>
          <a:lstStyle/>
          <a:p>
            <a:endParaRPr lang="en-US"/>
          </a:p>
        </p:txBody>
      </p:sp>
      <p:sp>
        <p:nvSpPr>
          <p:cNvPr id="4" name="Date Placeholder 3">
            <a:extLst>
              <a:ext uri="{FF2B5EF4-FFF2-40B4-BE49-F238E27FC236}">
                <a16:creationId xmlns:a16="http://schemas.microsoft.com/office/drawing/2014/main" id="{0EEF9179-12AA-40A3-63A0-84A6ED06611F}"/>
              </a:ext>
            </a:extLst>
          </p:cNvPr>
          <p:cNvSpPr>
            <a:spLocks noGrp="1"/>
          </p:cNvSpPr>
          <p:nvPr>
            <p:ph type="dt" sz="half" idx="10"/>
          </p:nvPr>
        </p:nvSpPr>
        <p:spPr>
          <a:xfrm>
            <a:off x="7568892" y="210312"/>
            <a:ext cx="1679642" cy="411480"/>
          </a:xfrm>
        </p:spPr>
        <p:txBody>
          <a:body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0CCE0E3B-6350-CAAC-2CAB-78999D19CADB}"/>
              </a:ext>
            </a:extLst>
          </p:cNvPr>
          <p:cNvSpPr>
            <a:spLocks noGrp="1"/>
          </p:cNvSpPr>
          <p:nvPr>
            <p:ph type="sldNum" sz="quarter" idx="12"/>
          </p:nvPr>
        </p:nvSpPr>
        <p:spPr/>
        <p:txBody>
          <a:bodyPr/>
          <a:lstStyle/>
          <a:p>
            <a:fld id="{050D633B-F7DD-475B-8BB7-EA89646A28FF}" type="slidenum">
              <a:rPr lang="en-US" smtClean="0"/>
              <a:t>‹#›</a:t>
            </a:fld>
            <a:endParaRPr lang="en-US"/>
          </a:p>
        </p:txBody>
      </p:sp>
      <p:cxnSp>
        <p:nvCxnSpPr>
          <p:cNvPr id="7" name="Straight Connector 6">
            <a:extLst>
              <a:ext uri="{FF2B5EF4-FFF2-40B4-BE49-F238E27FC236}">
                <a16:creationId xmlns:a16="http://schemas.microsoft.com/office/drawing/2014/main" id="{F4D168F9-DE00-B9C1-AD77-139DA8AF3364}"/>
              </a:ext>
            </a:extLst>
          </p:cNvPr>
          <p:cNvCxnSpPr>
            <a:cxnSpLocks/>
          </p:cNvCxnSpPr>
          <p:nvPr/>
        </p:nvCxnSpPr>
        <p:spPr>
          <a:xfrm>
            <a:off x="0" y="3434907"/>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8888995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2879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4398EFF-E3C5-E79D-1BD3-016E84949F9C}"/>
              </a:ext>
            </a:extLst>
          </p:cNvPr>
          <p:cNvCxnSpPr>
            <a:cxnSpLocks/>
          </p:cNvCxnSpPr>
          <p:nvPr/>
        </p:nvCxnSpPr>
        <p:spPr>
          <a:xfrm>
            <a:off x="0" y="789563"/>
            <a:ext cx="12192000"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2" name="Title Placeholder 1">
            <a:extLst>
              <a:ext uri="{FF2B5EF4-FFF2-40B4-BE49-F238E27FC236}">
                <a16:creationId xmlns:a16="http://schemas.microsoft.com/office/drawing/2014/main" id="{66478947-1D67-18A4-7E48-5B4B2F97FBE9}"/>
              </a:ext>
            </a:extLst>
          </p:cNvPr>
          <p:cNvSpPr>
            <a:spLocks noGrp="1"/>
          </p:cNvSpPr>
          <p:nvPr>
            <p:ph type="title"/>
          </p:nvPr>
        </p:nvSpPr>
        <p:spPr>
          <a:xfrm>
            <a:off x="320559" y="935798"/>
            <a:ext cx="11253668" cy="66569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FE08CA-9517-ABC1-E915-31EA6D7B73C7}"/>
              </a:ext>
            </a:extLst>
          </p:cNvPr>
          <p:cNvSpPr>
            <a:spLocks noGrp="1"/>
          </p:cNvSpPr>
          <p:nvPr>
            <p:ph type="body" idx="1"/>
          </p:nvPr>
        </p:nvSpPr>
        <p:spPr>
          <a:xfrm>
            <a:off x="320559" y="1707581"/>
            <a:ext cx="11253668" cy="484833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00E3983D-E783-AAEC-26DB-4B3F6511C702}"/>
              </a:ext>
            </a:extLst>
          </p:cNvPr>
          <p:cNvSpPr>
            <a:spLocks noGrp="1"/>
          </p:cNvSpPr>
          <p:nvPr>
            <p:ph type="ftr" sz="quarter" idx="3"/>
          </p:nvPr>
        </p:nvSpPr>
        <p:spPr>
          <a:xfrm>
            <a:off x="317773" y="207982"/>
            <a:ext cx="2963692"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endParaRPr lang="en-US"/>
          </a:p>
        </p:txBody>
      </p:sp>
      <p:sp>
        <p:nvSpPr>
          <p:cNvPr id="4" name="Date Placeholder 3">
            <a:extLst>
              <a:ext uri="{FF2B5EF4-FFF2-40B4-BE49-F238E27FC236}">
                <a16:creationId xmlns:a16="http://schemas.microsoft.com/office/drawing/2014/main" id="{70454426-0A97-D20B-FD06-9648AED7773C}"/>
              </a:ext>
            </a:extLst>
          </p:cNvPr>
          <p:cNvSpPr>
            <a:spLocks noGrp="1"/>
          </p:cNvSpPr>
          <p:nvPr>
            <p:ph type="dt" sz="half" idx="2"/>
          </p:nvPr>
        </p:nvSpPr>
        <p:spPr>
          <a:xfrm>
            <a:off x="7680069" y="207982"/>
            <a:ext cx="1921315" cy="413360"/>
          </a:xfrm>
          <a:prstGeom prst="rect">
            <a:avLst/>
          </a:prstGeom>
        </p:spPr>
        <p:txBody>
          <a:bodyPr vert="horz" lIns="91440" tIns="45720" rIns="91440" bIns="45720" rtlCol="0" anchor="ctr">
            <a:normAutofit/>
          </a:bodyPr>
          <a:lstStyle>
            <a:lvl1pPr algn="l">
              <a:defRPr sz="850" b="1" cap="all" spc="100" baseline="0">
                <a:solidFill>
                  <a:schemeClr val="tx2"/>
                </a:solidFill>
              </a:defRPr>
            </a:lvl1pPr>
          </a:lstStyle>
          <a:p>
            <a:fld id="{F5636E68-B8AE-455B-9579-C9480A2798EE}" type="datetimeFigureOut">
              <a:rPr lang="en-US" smtClean="0"/>
              <a:t>8/14/2026</a:t>
            </a:fld>
            <a:endParaRPr lang="en-US"/>
          </a:p>
        </p:txBody>
      </p:sp>
      <p:sp>
        <p:nvSpPr>
          <p:cNvPr id="6" name="Slide Number Placeholder 5">
            <a:extLst>
              <a:ext uri="{FF2B5EF4-FFF2-40B4-BE49-F238E27FC236}">
                <a16:creationId xmlns:a16="http://schemas.microsoft.com/office/drawing/2014/main" id="{7DA13386-8E2A-2962-4804-81558038BA54}"/>
              </a:ext>
            </a:extLst>
          </p:cNvPr>
          <p:cNvSpPr>
            <a:spLocks noGrp="1"/>
          </p:cNvSpPr>
          <p:nvPr>
            <p:ph type="sldNum" sz="quarter" idx="4"/>
          </p:nvPr>
        </p:nvSpPr>
        <p:spPr>
          <a:xfrm>
            <a:off x="11288870" y="207982"/>
            <a:ext cx="546447" cy="413360"/>
          </a:xfrm>
          <a:prstGeom prst="rect">
            <a:avLst/>
          </a:prstGeom>
        </p:spPr>
        <p:txBody>
          <a:bodyPr vert="horz" lIns="91440" tIns="45720" rIns="91440" bIns="45720" rtlCol="0" anchor="ctr">
            <a:normAutofit/>
          </a:bodyPr>
          <a:lstStyle>
            <a:lvl1pPr algn="r">
              <a:defRPr sz="850" b="1" cap="all" baseline="0">
                <a:solidFill>
                  <a:schemeClr val="tx2"/>
                </a:solidFill>
              </a:defRPr>
            </a:lvl1pPr>
          </a:lstStyle>
          <a:p>
            <a:fld id="{050D633B-F7DD-475B-8BB7-EA89646A28FF}" type="slidenum">
              <a:rPr lang="en-US" smtClean="0"/>
              <a:t>‹#›</a:t>
            </a:fld>
            <a:endParaRPr lang="en-US"/>
          </a:p>
        </p:txBody>
      </p:sp>
    </p:spTree>
    <p:extLst>
      <p:ext uri="{BB962C8B-B14F-4D97-AF65-F5344CB8AC3E}">
        <p14:creationId xmlns:p14="http://schemas.microsoft.com/office/powerpoint/2010/main" val="650722806"/>
      </p:ext>
    </p:extLst>
  </p:cSld>
  <p:clrMap bg1="lt1" tx1="dk1" bg2="lt2" tx2="dk2" accent1="accent1" accent2="accent2" accent3="accent3" accent4="accent4" accent5="accent5" accent6="accent6" hlink="hlink" folHlink="folHlink"/>
  <p:sldLayoutIdLst>
    <p:sldLayoutId id="2147483897"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 id="2147483906" r:id="rId10"/>
    <p:sldLayoutId id="2147483907" r:id="rId11"/>
    <p:sldLayoutId id="2147483908" r:id="rId12"/>
    <p:sldLayoutId id="2147483909" r:id="rId13"/>
    <p:sldLayoutId id="2147483910" r:id="rId14"/>
    <p:sldLayoutId id="2147483911" r:id="rId15"/>
    <p:sldLayoutId id="2147483912" r:id="rId16"/>
    <p:sldLayoutId id="2147483913" r:id="rId17"/>
    <p:sldLayoutId id="2147483914" r:id="rId18"/>
    <p:sldLayoutId id="2147483915" r:id="rId19"/>
    <p:sldLayoutId id="2147483916" r:id="rId20"/>
    <p:sldLayoutId id="2147483917" r:id="rId21"/>
    <p:sldLayoutId id="2147483918" r:id="rId22"/>
    <p:sldLayoutId id="2147483919" r:id="rId23"/>
    <p:sldLayoutId id="2147483920" r:id="rId24"/>
    <p:sldLayoutId id="2147483921" r:id="rId25"/>
    <p:sldLayoutId id="2147483922" r:id="rId26"/>
    <p:sldLayoutId id="2147483923" r:id="rId27"/>
    <p:sldLayoutId id="2147483924" r:id="rId28"/>
  </p:sldLayoutIdLst>
  <p:txStyles>
    <p:titleStyle>
      <a:lvl1pPr algn="l" defTabSz="914400" rtl="0" eaLnBrk="1" latinLnBrk="0" hangingPunct="1">
        <a:lnSpc>
          <a:spcPct val="70000"/>
        </a:lnSpc>
        <a:spcBef>
          <a:spcPct val="0"/>
        </a:spcBef>
        <a:buNone/>
        <a:defRPr sz="4000" kern="1200" cap="all"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0">
          <p15:clr>
            <a:srgbClr val="F26B43"/>
          </p15:clr>
        </p15:guide>
        <p15:guide id="2" pos="264">
          <p15:clr>
            <a:srgbClr val="F26B43"/>
          </p15:clr>
        </p15:guide>
        <p15:guide id="3" pos="7416">
          <p15:clr>
            <a:srgbClr val="F26B43"/>
          </p15:clr>
        </p15:guide>
        <p15:guide id="4" orient="horz" pos="3816">
          <p15:clr>
            <a:srgbClr val="F26B43"/>
          </p15:clr>
        </p15:guide>
        <p15:guide id="5" pos="7200">
          <p15:clr>
            <a:srgbClr val="F26B43"/>
          </p15:clr>
        </p15:guide>
        <p15:guide id="6" pos="504">
          <p15:clr>
            <a:srgbClr val="F26B43"/>
          </p15:clr>
        </p15:guide>
        <p15:guide id="7" orient="horz" pos="4128">
          <p15:clr>
            <a:srgbClr val="F26B43"/>
          </p15:clr>
        </p15:guide>
        <p15:guide id="8" orient="horz" pos="1056">
          <p15:clr>
            <a:srgbClr val="F26B43"/>
          </p15:clr>
        </p15:guide>
        <p15:guide id="9" pos="45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21733" y="1447800"/>
            <a:ext cx="11108267" cy="897468"/>
          </a:xfrm>
          <a:prstGeom prst="rect">
            <a:avLst/>
          </a:prstGeom>
          <a:noFill/>
          <a:ln/>
        </p:spPr>
        <p:txBody>
          <a:bodyPr wrap="square" rtlCol="0" anchor="ctr"/>
          <a:lstStyle/>
          <a:p>
            <a:pPr algn="ctr"/>
            <a:r>
              <a:rPr lang="en-US" sz="7200" b="1" dirty="0">
                <a:solidFill>
                  <a:srgbClr val="002060"/>
                </a:solidFill>
                <a:latin typeface="Cambria" pitchFamily="34" charset="0"/>
                <a:ea typeface="Cambria" pitchFamily="34" charset="-122"/>
                <a:cs typeface="Cambria" pitchFamily="34" charset="-120"/>
              </a:rPr>
              <a:t>Scrum-Agile at </a:t>
            </a:r>
            <a:r>
              <a:rPr lang="en-US" sz="7200" b="1" dirty="0" err="1">
                <a:solidFill>
                  <a:srgbClr val="002060"/>
                </a:solidFill>
                <a:latin typeface="Cambria" pitchFamily="34" charset="0"/>
                <a:ea typeface="Cambria" pitchFamily="34" charset="-122"/>
                <a:cs typeface="Cambria" pitchFamily="34" charset="-120"/>
              </a:rPr>
              <a:t>ChadaTech</a:t>
            </a:r>
            <a:endParaRPr lang="en-US" sz="7200" dirty="0">
              <a:solidFill>
                <a:srgbClr val="002060"/>
              </a:solidFill>
            </a:endParaRPr>
          </a:p>
          <a:p>
            <a:pPr algn="ctr"/>
            <a:endParaRPr lang="en-US" sz="7200" dirty="0">
              <a:solidFill>
                <a:srgbClr val="0070C0"/>
              </a:solidFill>
            </a:endParaRPr>
          </a:p>
        </p:txBody>
      </p:sp>
      <p:sp>
        <p:nvSpPr>
          <p:cNvPr id="3" name="Text 1"/>
          <p:cNvSpPr/>
          <p:nvPr/>
        </p:nvSpPr>
        <p:spPr>
          <a:xfrm>
            <a:off x="731520" y="1888067"/>
            <a:ext cx="10698480" cy="660399"/>
          </a:xfrm>
          <a:prstGeom prst="rect">
            <a:avLst/>
          </a:prstGeom>
          <a:noFill/>
          <a:ln/>
        </p:spPr>
        <p:txBody>
          <a:bodyPr wrap="square" rtlCol="0" anchor="ctr"/>
          <a:lstStyle/>
          <a:p>
            <a:pPr marL="0" indent="0" algn="ctr">
              <a:buNone/>
            </a:pPr>
            <a:r>
              <a:rPr lang="en-US" sz="5400" dirty="0">
                <a:solidFill>
                  <a:srgbClr val="002060"/>
                </a:solidFill>
                <a:latin typeface="Calibri" pitchFamily="34" charset="0"/>
                <a:ea typeface="Calibri" pitchFamily="34" charset="-122"/>
                <a:cs typeface="Calibri" pitchFamily="34" charset="-120"/>
              </a:rPr>
              <a:t>Lessons from the SNHU Travel Pilot</a:t>
            </a:r>
            <a:endParaRPr lang="en-US" sz="5400" dirty="0">
              <a:solidFill>
                <a:srgbClr val="002060"/>
              </a:solidFill>
            </a:endParaRPr>
          </a:p>
        </p:txBody>
      </p:sp>
      <p:sp>
        <p:nvSpPr>
          <p:cNvPr id="4" name="Text 2"/>
          <p:cNvSpPr/>
          <p:nvPr/>
        </p:nvSpPr>
        <p:spPr>
          <a:xfrm>
            <a:off x="731520" y="2548466"/>
            <a:ext cx="10698480" cy="364067"/>
          </a:xfrm>
          <a:prstGeom prst="rect">
            <a:avLst/>
          </a:prstGeom>
          <a:noFill/>
          <a:ln/>
        </p:spPr>
        <p:txBody>
          <a:bodyPr wrap="square" rtlCol="0" anchor="ctr"/>
          <a:lstStyle/>
          <a:p>
            <a:pPr marL="0" indent="0" algn="ctr">
              <a:buNone/>
            </a:pPr>
            <a:r>
              <a:rPr lang="en-US" sz="2000" dirty="0">
                <a:solidFill>
                  <a:srgbClr val="002060"/>
                </a:solidFill>
                <a:latin typeface="Calibri" pitchFamily="34" charset="0"/>
                <a:ea typeface="Calibri" pitchFamily="34" charset="-122"/>
                <a:cs typeface="Calibri" pitchFamily="34" charset="-120"/>
              </a:rPr>
              <a:t>Brandon Willis  |  CS 250: Software Development Lifecycle</a:t>
            </a:r>
            <a:endParaRPr lang="en-US" sz="2000" dirty="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0"/>
            <a:ext cx="7315200" cy="82296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Agile Roles</a:t>
            </a:r>
            <a:endParaRPr lang="en-US" sz="3200" dirty="0"/>
          </a:p>
        </p:txBody>
      </p:sp>
      <p:sp>
        <p:nvSpPr>
          <p:cNvPr id="3" name="Text 1"/>
          <p:cNvSpPr/>
          <p:nvPr/>
        </p:nvSpPr>
        <p:spPr>
          <a:xfrm>
            <a:off x="548640" y="960120"/>
            <a:ext cx="10058400" cy="365760"/>
          </a:xfrm>
          <a:prstGeom prst="rect">
            <a:avLst/>
          </a:prstGeom>
          <a:noFill/>
          <a:ln/>
        </p:spPr>
        <p:txBody>
          <a:bodyPr wrap="square" rtlCol="0" anchor="ctr"/>
          <a:lstStyle/>
          <a:p>
            <a:pPr marL="0" indent="0">
              <a:buNone/>
            </a:pPr>
            <a:r>
              <a:rPr lang="en-US" sz="1400" dirty="0">
                <a:solidFill>
                  <a:srgbClr val="5A5A6E"/>
                </a:solidFill>
                <a:latin typeface="Calibri" pitchFamily="34" charset="0"/>
                <a:ea typeface="Calibri" pitchFamily="34" charset="-122"/>
                <a:cs typeface="Calibri" pitchFamily="34" charset="-120"/>
              </a:rPr>
              <a:t>Every Scrum Team depends on four roles working in sync</a:t>
            </a:r>
            <a:endParaRPr lang="en-US" sz="1400" dirty="0"/>
          </a:p>
        </p:txBody>
      </p:sp>
      <p:sp>
        <p:nvSpPr>
          <p:cNvPr id="4" name="Shape 2"/>
          <p:cNvSpPr/>
          <p:nvPr/>
        </p:nvSpPr>
        <p:spPr>
          <a:xfrm>
            <a:off x="548640" y="1600200"/>
            <a:ext cx="2606040" cy="2834640"/>
          </a:xfrm>
          <a:prstGeom prst="roundRect">
            <a:avLst>
              <a:gd name="adj" fmla="val 4211"/>
            </a:avLst>
          </a:prstGeom>
          <a:solidFill>
            <a:srgbClr val="F4F6FC"/>
          </a:solidFill>
          <a:ln w="12700">
            <a:solidFill>
              <a:srgbClr val="F4F6FC"/>
            </a:solidFill>
            <a:prstDash val="solid"/>
          </a:ln>
        </p:spPr>
        <p:txBody>
          <a:bodyPr/>
          <a:lstStyle/>
          <a:p>
            <a:endParaRPr lang="en-US"/>
          </a:p>
        </p:txBody>
      </p:sp>
      <p:sp>
        <p:nvSpPr>
          <p:cNvPr id="5" name="Shape 3"/>
          <p:cNvSpPr/>
          <p:nvPr/>
        </p:nvSpPr>
        <p:spPr>
          <a:xfrm>
            <a:off x="1531620" y="1874520"/>
            <a:ext cx="640080" cy="640080"/>
          </a:xfrm>
          <a:prstGeom prst="ellipse">
            <a:avLst/>
          </a:prstGeom>
          <a:solidFill>
            <a:srgbClr val="1E2761"/>
          </a:solidFill>
          <a:ln/>
        </p:spPr>
        <p:txBody>
          <a:bodyPr/>
          <a:lstStyle/>
          <a:p>
            <a:endParaRPr lang="en-US"/>
          </a:p>
        </p:txBody>
      </p:sp>
      <p:sp>
        <p:nvSpPr>
          <p:cNvPr id="6" name="Text 4"/>
          <p:cNvSpPr/>
          <p:nvPr/>
        </p:nvSpPr>
        <p:spPr>
          <a:xfrm>
            <a:off x="1531620" y="187452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731520" y="2651760"/>
            <a:ext cx="2240280" cy="45720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Product Owner</a:t>
            </a:r>
            <a:endParaRPr lang="en-US" sz="1600" dirty="0"/>
          </a:p>
        </p:txBody>
      </p:sp>
      <p:sp>
        <p:nvSpPr>
          <p:cNvPr id="8" name="Text 6"/>
          <p:cNvSpPr/>
          <p:nvPr/>
        </p:nvSpPr>
        <p:spPr>
          <a:xfrm>
            <a:off x="777240" y="3108960"/>
            <a:ext cx="2148840" cy="1143000"/>
          </a:xfrm>
          <a:prstGeom prst="rect">
            <a:avLst/>
          </a:prstGeom>
          <a:noFill/>
          <a:ln/>
        </p:spPr>
        <p:txBody>
          <a:bodyPr wrap="square" rtlCol="0" anchor="t"/>
          <a:lstStyle/>
          <a:p>
            <a:pPr marL="0" indent="0" algn="ctr">
              <a:buNone/>
            </a:pPr>
            <a:r>
              <a:rPr lang="en-US" sz="1250" dirty="0">
                <a:solidFill>
                  <a:srgbClr val="1E2761"/>
                </a:solidFill>
                <a:latin typeface="Calibri" pitchFamily="34" charset="0"/>
                <a:ea typeface="Calibri" pitchFamily="34" charset="-122"/>
                <a:cs typeface="Calibri" pitchFamily="34" charset="-120"/>
              </a:rPr>
              <a:t>Owns the product backlog, represents stakeholder needs, and decides what work is highest priority.</a:t>
            </a:r>
            <a:endParaRPr lang="en-US" sz="1250" dirty="0"/>
          </a:p>
        </p:txBody>
      </p:sp>
      <p:sp>
        <p:nvSpPr>
          <p:cNvPr id="9" name="Shape 7"/>
          <p:cNvSpPr/>
          <p:nvPr/>
        </p:nvSpPr>
        <p:spPr>
          <a:xfrm>
            <a:off x="3383280" y="1600200"/>
            <a:ext cx="2606040" cy="2834640"/>
          </a:xfrm>
          <a:prstGeom prst="roundRect">
            <a:avLst>
              <a:gd name="adj" fmla="val 4211"/>
            </a:avLst>
          </a:prstGeom>
          <a:solidFill>
            <a:srgbClr val="F4F6FC"/>
          </a:solidFill>
          <a:ln w="12700">
            <a:solidFill>
              <a:srgbClr val="F4F6FC"/>
            </a:solidFill>
            <a:prstDash val="solid"/>
          </a:ln>
        </p:spPr>
        <p:txBody>
          <a:bodyPr/>
          <a:lstStyle/>
          <a:p>
            <a:endParaRPr lang="en-US"/>
          </a:p>
        </p:txBody>
      </p:sp>
      <p:sp>
        <p:nvSpPr>
          <p:cNvPr id="10" name="Shape 8"/>
          <p:cNvSpPr/>
          <p:nvPr/>
        </p:nvSpPr>
        <p:spPr>
          <a:xfrm>
            <a:off x="4366260" y="1874520"/>
            <a:ext cx="640080" cy="640080"/>
          </a:xfrm>
          <a:prstGeom prst="ellipse">
            <a:avLst/>
          </a:prstGeom>
          <a:solidFill>
            <a:srgbClr val="1E2761"/>
          </a:solidFill>
          <a:ln/>
        </p:spPr>
        <p:txBody>
          <a:bodyPr/>
          <a:lstStyle/>
          <a:p>
            <a:endParaRPr lang="en-US"/>
          </a:p>
        </p:txBody>
      </p:sp>
      <p:sp>
        <p:nvSpPr>
          <p:cNvPr id="11" name="Text 9"/>
          <p:cNvSpPr/>
          <p:nvPr/>
        </p:nvSpPr>
        <p:spPr>
          <a:xfrm>
            <a:off x="4366260" y="187452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3566160" y="2651760"/>
            <a:ext cx="2240280" cy="45720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Scrum Master</a:t>
            </a:r>
            <a:endParaRPr lang="en-US" sz="1600" dirty="0"/>
          </a:p>
        </p:txBody>
      </p:sp>
      <p:sp>
        <p:nvSpPr>
          <p:cNvPr id="13" name="Text 11"/>
          <p:cNvSpPr/>
          <p:nvPr/>
        </p:nvSpPr>
        <p:spPr>
          <a:xfrm>
            <a:off x="3611880" y="3108960"/>
            <a:ext cx="2148840" cy="1143000"/>
          </a:xfrm>
          <a:prstGeom prst="rect">
            <a:avLst/>
          </a:prstGeom>
          <a:noFill/>
          <a:ln/>
        </p:spPr>
        <p:txBody>
          <a:bodyPr wrap="square" rtlCol="0" anchor="t"/>
          <a:lstStyle/>
          <a:p>
            <a:pPr marL="0" indent="0" algn="ctr">
              <a:buNone/>
            </a:pPr>
            <a:r>
              <a:rPr lang="en-US" sz="1250" dirty="0">
                <a:solidFill>
                  <a:srgbClr val="1E2761"/>
                </a:solidFill>
                <a:latin typeface="Calibri" pitchFamily="34" charset="0"/>
                <a:ea typeface="Calibri" pitchFamily="34" charset="-122"/>
                <a:cs typeface="Calibri" pitchFamily="34" charset="-120"/>
              </a:rPr>
              <a:t>Protects the team's process, runs Scrum events, and removes blockers that slow the team down.</a:t>
            </a:r>
            <a:endParaRPr lang="en-US" sz="1250" dirty="0"/>
          </a:p>
        </p:txBody>
      </p:sp>
      <p:sp>
        <p:nvSpPr>
          <p:cNvPr id="14" name="Shape 12"/>
          <p:cNvSpPr/>
          <p:nvPr/>
        </p:nvSpPr>
        <p:spPr>
          <a:xfrm>
            <a:off x="6217920" y="1600200"/>
            <a:ext cx="2606040" cy="2834640"/>
          </a:xfrm>
          <a:prstGeom prst="roundRect">
            <a:avLst>
              <a:gd name="adj" fmla="val 4211"/>
            </a:avLst>
          </a:prstGeom>
          <a:solidFill>
            <a:srgbClr val="F4F6FC"/>
          </a:solidFill>
          <a:ln w="12700">
            <a:solidFill>
              <a:srgbClr val="F4F6FC"/>
            </a:solidFill>
            <a:prstDash val="solid"/>
          </a:ln>
        </p:spPr>
        <p:txBody>
          <a:bodyPr/>
          <a:lstStyle/>
          <a:p>
            <a:endParaRPr lang="en-US"/>
          </a:p>
        </p:txBody>
      </p:sp>
      <p:sp>
        <p:nvSpPr>
          <p:cNvPr id="15" name="Shape 13"/>
          <p:cNvSpPr/>
          <p:nvPr/>
        </p:nvSpPr>
        <p:spPr>
          <a:xfrm>
            <a:off x="7200900" y="1874520"/>
            <a:ext cx="640080" cy="640080"/>
          </a:xfrm>
          <a:prstGeom prst="ellipse">
            <a:avLst/>
          </a:prstGeom>
          <a:solidFill>
            <a:srgbClr val="1E2761"/>
          </a:solidFill>
          <a:ln/>
        </p:spPr>
        <p:txBody>
          <a:bodyPr/>
          <a:lstStyle/>
          <a:p>
            <a:endParaRPr lang="en-US"/>
          </a:p>
        </p:txBody>
      </p:sp>
      <p:sp>
        <p:nvSpPr>
          <p:cNvPr id="16" name="Text 14"/>
          <p:cNvSpPr/>
          <p:nvPr/>
        </p:nvSpPr>
        <p:spPr>
          <a:xfrm>
            <a:off x="7200900" y="187452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6400800" y="2651760"/>
            <a:ext cx="2240280" cy="45720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Developer</a:t>
            </a:r>
            <a:endParaRPr lang="en-US" sz="1600" dirty="0"/>
          </a:p>
        </p:txBody>
      </p:sp>
      <p:sp>
        <p:nvSpPr>
          <p:cNvPr id="18" name="Text 16"/>
          <p:cNvSpPr/>
          <p:nvPr/>
        </p:nvSpPr>
        <p:spPr>
          <a:xfrm>
            <a:off x="6446520" y="3108960"/>
            <a:ext cx="2148840" cy="1143000"/>
          </a:xfrm>
          <a:prstGeom prst="rect">
            <a:avLst/>
          </a:prstGeom>
          <a:noFill/>
          <a:ln/>
        </p:spPr>
        <p:txBody>
          <a:bodyPr wrap="square" rtlCol="0" anchor="t"/>
          <a:lstStyle/>
          <a:p>
            <a:pPr marL="0" indent="0" algn="ctr">
              <a:buNone/>
            </a:pPr>
            <a:r>
              <a:rPr lang="en-US" sz="1250" dirty="0">
                <a:solidFill>
                  <a:srgbClr val="1E2761"/>
                </a:solidFill>
                <a:latin typeface="Calibri" pitchFamily="34" charset="0"/>
                <a:ea typeface="Calibri" pitchFamily="34" charset="-122"/>
                <a:cs typeface="Calibri" pitchFamily="34" charset="-120"/>
              </a:rPr>
              <a:t>Builds the product directly off the backlog instead of working in isolation on a single specialty.</a:t>
            </a:r>
            <a:endParaRPr lang="en-US" sz="1250" dirty="0"/>
          </a:p>
        </p:txBody>
      </p:sp>
      <p:sp>
        <p:nvSpPr>
          <p:cNvPr id="19" name="Shape 17"/>
          <p:cNvSpPr/>
          <p:nvPr/>
        </p:nvSpPr>
        <p:spPr>
          <a:xfrm>
            <a:off x="9052560" y="1600200"/>
            <a:ext cx="2606040" cy="2834640"/>
          </a:xfrm>
          <a:prstGeom prst="roundRect">
            <a:avLst>
              <a:gd name="adj" fmla="val 4211"/>
            </a:avLst>
          </a:prstGeom>
          <a:solidFill>
            <a:srgbClr val="F4F6FC"/>
          </a:solidFill>
          <a:ln w="12700">
            <a:solidFill>
              <a:srgbClr val="F4F6FC"/>
            </a:solidFill>
            <a:prstDash val="solid"/>
          </a:ln>
        </p:spPr>
        <p:txBody>
          <a:bodyPr/>
          <a:lstStyle/>
          <a:p>
            <a:endParaRPr lang="en-US"/>
          </a:p>
        </p:txBody>
      </p:sp>
      <p:sp>
        <p:nvSpPr>
          <p:cNvPr id="20" name="Shape 18"/>
          <p:cNvSpPr/>
          <p:nvPr/>
        </p:nvSpPr>
        <p:spPr>
          <a:xfrm>
            <a:off x="10035540" y="1874520"/>
            <a:ext cx="640080" cy="640080"/>
          </a:xfrm>
          <a:prstGeom prst="ellipse">
            <a:avLst/>
          </a:prstGeom>
          <a:solidFill>
            <a:srgbClr val="1E2761"/>
          </a:solidFill>
          <a:ln/>
        </p:spPr>
        <p:txBody>
          <a:bodyPr/>
          <a:lstStyle/>
          <a:p>
            <a:endParaRPr lang="en-US"/>
          </a:p>
        </p:txBody>
      </p:sp>
      <p:sp>
        <p:nvSpPr>
          <p:cNvPr id="21" name="Text 19"/>
          <p:cNvSpPr/>
          <p:nvPr/>
        </p:nvSpPr>
        <p:spPr>
          <a:xfrm>
            <a:off x="10035540" y="1874520"/>
            <a:ext cx="640080" cy="64008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2" name="Text 20"/>
          <p:cNvSpPr/>
          <p:nvPr/>
        </p:nvSpPr>
        <p:spPr>
          <a:xfrm>
            <a:off x="9235440" y="2651760"/>
            <a:ext cx="2240280" cy="45720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Tester</a:t>
            </a:r>
            <a:endParaRPr lang="en-US" sz="1600" dirty="0"/>
          </a:p>
        </p:txBody>
      </p:sp>
      <p:sp>
        <p:nvSpPr>
          <p:cNvPr id="23" name="Text 21"/>
          <p:cNvSpPr/>
          <p:nvPr/>
        </p:nvSpPr>
        <p:spPr>
          <a:xfrm>
            <a:off x="9281160" y="3108960"/>
            <a:ext cx="2148840" cy="1143000"/>
          </a:xfrm>
          <a:prstGeom prst="rect">
            <a:avLst/>
          </a:prstGeom>
          <a:noFill/>
          <a:ln/>
        </p:spPr>
        <p:txBody>
          <a:bodyPr wrap="square" rtlCol="0" anchor="t"/>
          <a:lstStyle/>
          <a:p>
            <a:pPr marL="0" indent="0" algn="ctr">
              <a:buNone/>
            </a:pPr>
            <a:r>
              <a:rPr lang="en-US" sz="1250" dirty="0">
                <a:solidFill>
                  <a:srgbClr val="1E2761"/>
                </a:solidFill>
                <a:latin typeface="Calibri" pitchFamily="34" charset="0"/>
                <a:ea typeface="Calibri" pitchFamily="34" charset="-122"/>
                <a:cs typeface="Calibri" pitchFamily="34" charset="-120"/>
              </a:rPr>
              <a:t>Verifies each story against its acceptance criteria and catches gaps before they reach the client.</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6576"/>
            <a:ext cx="8229600" cy="969264"/>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Agile Phases of the SDLC</a:t>
            </a:r>
            <a:endParaRPr lang="en-US" sz="3200" dirty="0"/>
          </a:p>
        </p:txBody>
      </p:sp>
      <p:sp>
        <p:nvSpPr>
          <p:cNvPr id="3" name="Text 1"/>
          <p:cNvSpPr/>
          <p:nvPr/>
        </p:nvSpPr>
        <p:spPr>
          <a:xfrm>
            <a:off x="548640" y="960120"/>
            <a:ext cx="10058400" cy="365760"/>
          </a:xfrm>
          <a:prstGeom prst="rect">
            <a:avLst/>
          </a:prstGeom>
          <a:noFill/>
          <a:ln/>
        </p:spPr>
        <p:txBody>
          <a:bodyPr wrap="square" rtlCol="0" anchor="ctr"/>
          <a:lstStyle/>
          <a:p>
            <a:pPr marL="0" indent="0">
              <a:buNone/>
            </a:pPr>
            <a:r>
              <a:rPr lang="en-US" sz="1400" dirty="0">
                <a:solidFill>
                  <a:srgbClr val="5A5A6E"/>
                </a:solidFill>
                <a:latin typeface="Calibri" pitchFamily="34" charset="0"/>
                <a:ea typeface="Calibri" pitchFamily="34" charset="-122"/>
                <a:cs typeface="Calibri" pitchFamily="34" charset="-120"/>
              </a:rPr>
              <a:t>Agile runs the SDLC as a repeating cycle instead of a straight line</a:t>
            </a:r>
            <a:endParaRPr lang="en-US" sz="1400" dirty="0"/>
          </a:p>
        </p:txBody>
      </p:sp>
      <p:sp>
        <p:nvSpPr>
          <p:cNvPr id="4" name="Shape 2"/>
          <p:cNvSpPr/>
          <p:nvPr/>
        </p:nvSpPr>
        <p:spPr>
          <a:xfrm>
            <a:off x="548640" y="1828800"/>
            <a:ext cx="1965960" cy="3291840"/>
          </a:xfrm>
          <a:prstGeom prst="roundRect">
            <a:avLst>
              <a:gd name="adj" fmla="val 4651"/>
            </a:avLst>
          </a:prstGeom>
          <a:solidFill>
            <a:srgbClr val="1E2761"/>
          </a:solidFill>
          <a:ln w="12700">
            <a:solidFill>
              <a:srgbClr val="1E2761"/>
            </a:solidFill>
            <a:prstDash val="solid"/>
          </a:ln>
        </p:spPr>
        <p:txBody>
          <a:bodyPr/>
          <a:lstStyle/>
          <a:p>
            <a:endParaRPr lang="en-US"/>
          </a:p>
        </p:txBody>
      </p:sp>
      <p:sp>
        <p:nvSpPr>
          <p:cNvPr id="5" name="Text 3"/>
          <p:cNvSpPr/>
          <p:nvPr/>
        </p:nvSpPr>
        <p:spPr>
          <a:xfrm>
            <a:off x="685800" y="1965960"/>
            <a:ext cx="548640" cy="457200"/>
          </a:xfrm>
          <a:prstGeom prst="rect">
            <a:avLst/>
          </a:prstGeom>
          <a:noFill/>
          <a:ln/>
        </p:spPr>
        <p:txBody>
          <a:bodyPr wrap="square" rtlCol="0" anchor="ctr"/>
          <a:lstStyle/>
          <a:p>
            <a:pPr marL="0" indent="0">
              <a:buNone/>
            </a:pPr>
            <a:r>
              <a:rPr lang="en-US" sz="2000" b="1" dirty="0">
                <a:solidFill>
                  <a:srgbClr val="CADCFC"/>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685800" y="2514600"/>
            <a:ext cx="1691640" cy="822960"/>
          </a:xfrm>
          <a:prstGeom prst="rect">
            <a:avLst/>
          </a:prstGeom>
          <a:noFill/>
          <a:ln/>
        </p:spPr>
        <p:txBody>
          <a:bodyPr wrap="square"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Backlog &amp; Refinement</a:t>
            </a:r>
            <a:endParaRPr lang="en-US" sz="1350" dirty="0"/>
          </a:p>
        </p:txBody>
      </p:sp>
      <p:sp>
        <p:nvSpPr>
          <p:cNvPr id="7" name="Text 5"/>
          <p:cNvSpPr/>
          <p:nvPr/>
        </p:nvSpPr>
        <p:spPr>
          <a:xfrm>
            <a:off x="685800" y="3337560"/>
            <a:ext cx="1691640" cy="1600200"/>
          </a:xfrm>
          <a:prstGeom prst="rect">
            <a:avLst/>
          </a:prstGeom>
          <a:noFill/>
          <a:ln/>
        </p:spPr>
        <p:txBody>
          <a:bodyPr wrap="square" rtlCol="0" anchor="t"/>
          <a:lstStyle/>
          <a:p>
            <a:pPr marL="0" indent="0" algn="l">
              <a:buNone/>
            </a:pPr>
            <a:r>
              <a:rPr lang="en-US" sz="1100" dirty="0">
                <a:solidFill>
                  <a:srgbClr val="CADCFC"/>
                </a:solidFill>
                <a:latin typeface="Calibri" pitchFamily="34" charset="0"/>
                <a:ea typeface="Calibri" pitchFamily="34" charset="-122"/>
                <a:cs typeface="Calibri" pitchFamily="34" charset="-120"/>
              </a:rPr>
              <a:t>Stories are written and prioritized, then broken down with clear acceptance criteria.</a:t>
            </a:r>
            <a:endParaRPr lang="en-US" sz="1100" dirty="0"/>
          </a:p>
        </p:txBody>
      </p:sp>
      <p:sp>
        <p:nvSpPr>
          <p:cNvPr id="8" name="Shape 6"/>
          <p:cNvSpPr/>
          <p:nvPr/>
        </p:nvSpPr>
        <p:spPr>
          <a:xfrm>
            <a:off x="2532888" y="3392424"/>
            <a:ext cx="128016" cy="164592"/>
          </a:xfrm>
          <a:prstGeom prst="chevron">
            <a:avLst/>
          </a:prstGeom>
          <a:solidFill>
            <a:srgbClr val="1E2761"/>
          </a:solidFill>
          <a:ln w="12700">
            <a:solidFill>
              <a:srgbClr val="1E2761"/>
            </a:solidFill>
            <a:prstDash val="solid"/>
          </a:ln>
        </p:spPr>
        <p:txBody>
          <a:bodyPr/>
          <a:lstStyle/>
          <a:p>
            <a:endParaRPr lang="en-US"/>
          </a:p>
        </p:txBody>
      </p:sp>
      <p:sp>
        <p:nvSpPr>
          <p:cNvPr id="9" name="Shape 7"/>
          <p:cNvSpPr/>
          <p:nvPr/>
        </p:nvSpPr>
        <p:spPr>
          <a:xfrm>
            <a:off x="2679192" y="1828800"/>
            <a:ext cx="1965960" cy="3291840"/>
          </a:xfrm>
          <a:prstGeom prst="roundRect">
            <a:avLst>
              <a:gd name="adj" fmla="val 4651"/>
            </a:avLst>
          </a:prstGeom>
          <a:solidFill>
            <a:srgbClr val="CADCFC"/>
          </a:solidFill>
          <a:ln w="12700">
            <a:solidFill>
              <a:srgbClr val="CADCFC"/>
            </a:solidFill>
            <a:prstDash val="solid"/>
          </a:ln>
        </p:spPr>
        <p:txBody>
          <a:bodyPr/>
          <a:lstStyle/>
          <a:p>
            <a:endParaRPr lang="en-US"/>
          </a:p>
        </p:txBody>
      </p:sp>
      <p:sp>
        <p:nvSpPr>
          <p:cNvPr id="10" name="Text 8"/>
          <p:cNvSpPr/>
          <p:nvPr/>
        </p:nvSpPr>
        <p:spPr>
          <a:xfrm>
            <a:off x="2816352" y="1965960"/>
            <a:ext cx="548640" cy="45720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2816352" y="2514600"/>
            <a:ext cx="1691640" cy="822960"/>
          </a:xfrm>
          <a:prstGeom prst="rect">
            <a:avLst/>
          </a:prstGeom>
          <a:noFill/>
          <a:ln/>
        </p:spPr>
        <p:txBody>
          <a:bodyPr wrap="square" rtlCol="0" anchor="ctr"/>
          <a:lstStyle/>
          <a:p>
            <a:pPr marL="0" indent="0" algn="l">
              <a:buNone/>
            </a:pPr>
            <a:r>
              <a:rPr lang="en-US" sz="1350" b="1" dirty="0">
                <a:solidFill>
                  <a:srgbClr val="1E2761"/>
                </a:solidFill>
                <a:latin typeface="Calibri" pitchFamily="34" charset="0"/>
                <a:ea typeface="Calibri" pitchFamily="34" charset="-122"/>
                <a:cs typeface="Calibri" pitchFamily="34" charset="-120"/>
              </a:rPr>
              <a:t>Sprint Planning</a:t>
            </a:r>
            <a:endParaRPr lang="en-US" sz="1350" dirty="0"/>
          </a:p>
        </p:txBody>
      </p:sp>
      <p:sp>
        <p:nvSpPr>
          <p:cNvPr id="12" name="Text 10"/>
          <p:cNvSpPr/>
          <p:nvPr/>
        </p:nvSpPr>
        <p:spPr>
          <a:xfrm>
            <a:off x="2816352" y="3337560"/>
            <a:ext cx="1691640" cy="1600200"/>
          </a:xfrm>
          <a:prstGeom prst="rect">
            <a:avLst/>
          </a:prstGeom>
          <a:noFill/>
          <a:ln/>
        </p:spPr>
        <p:txBody>
          <a:bodyPr wrap="square" rtlCol="0" anchor="t"/>
          <a:lstStyle/>
          <a:p>
            <a:pPr marL="0" indent="0" algn="l">
              <a:buNone/>
            </a:pPr>
            <a:r>
              <a:rPr lang="en-US" sz="1100" dirty="0">
                <a:solidFill>
                  <a:srgbClr val="1E2761"/>
                </a:solidFill>
                <a:latin typeface="Calibri" pitchFamily="34" charset="0"/>
                <a:ea typeface="Calibri" pitchFamily="34" charset="-122"/>
                <a:cs typeface="Calibri" pitchFamily="34" charset="-120"/>
              </a:rPr>
              <a:t>The team commits to a set of backlog items to build during the sprint.</a:t>
            </a:r>
            <a:endParaRPr lang="en-US" sz="1100" dirty="0"/>
          </a:p>
        </p:txBody>
      </p:sp>
      <p:sp>
        <p:nvSpPr>
          <p:cNvPr id="13" name="Shape 11"/>
          <p:cNvSpPr/>
          <p:nvPr/>
        </p:nvSpPr>
        <p:spPr>
          <a:xfrm>
            <a:off x="4663440" y="3392424"/>
            <a:ext cx="128016" cy="164592"/>
          </a:xfrm>
          <a:prstGeom prst="chevron">
            <a:avLst/>
          </a:prstGeom>
          <a:solidFill>
            <a:srgbClr val="1E2761"/>
          </a:solidFill>
          <a:ln w="12700">
            <a:solidFill>
              <a:srgbClr val="1E2761"/>
            </a:solidFill>
            <a:prstDash val="solid"/>
          </a:ln>
        </p:spPr>
        <p:txBody>
          <a:bodyPr/>
          <a:lstStyle/>
          <a:p>
            <a:endParaRPr lang="en-US"/>
          </a:p>
        </p:txBody>
      </p:sp>
      <p:sp>
        <p:nvSpPr>
          <p:cNvPr id="14" name="Shape 12"/>
          <p:cNvSpPr/>
          <p:nvPr/>
        </p:nvSpPr>
        <p:spPr>
          <a:xfrm>
            <a:off x="4809744" y="1828800"/>
            <a:ext cx="1965960" cy="3291840"/>
          </a:xfrm>
          <a:prstGeom prst="roundRect">
            <a:avLst>
              <a:gd name="adj" fmla="val 4651"/>
            </a:avLst>
          </a:prstGeom>
          <a:solidFill>
            <a:srgbClr val="1E2761"/>
          </a:solidFill>
          <a:ln w="12700">
            <a:solidFill>
              <a:srgbClr val="1E2761"/>
            </a:solidFill>
            <a:prstDash val="solid"/>
          </a:ln>
        </p:spPr>
        <p:txBody>
          <a:bodyPr/>
          <a:lstStyle/>
          <a:p>
            <a:endParaRPr lang="en-US"/>
          </a:p>
        </p:txBody>
      </p:sp>
      <p:sp>
        <p:nvSpPr>
          <p:cNvPr id="15" name="Text 13"/>
          <p:cNvSpPr/>
          <p:nvPr/>
        </p:nvSpPr>
        <p:spPr>
          <a:xfrm>
            <a:off x="4946904" y="1965960"/>
            <a:ext cx="548640" cy="457200"/>
          </a:xfrm>
          <a:prstGeom prst="rect">
            <a:avLst/>
          </a:prstGeom>
          <a:noFill/>
          <a:ln/>
        </p:spPr>
        <p:txBody>
          <a:bodyPr wrap="square" rtlCol="0" anchor="ctr"/>
          <a:lstStyle/>
          <a:p>
            <a:pPr marL="0" indent="0">
              <a:buNone/>
            </a:pPr>
            <a:r>
              <a:rPr lang="en-US" sz="2000" b="1" dirty="0">
                <a:solidFill>
                  <a:srgbClr val="CADCFC"/>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4946904" y="2514600"/>
            <a:ext cx="1691640" cy="822960"/>
          </a:xfrm>
          <a:prstGeom prst="rect">
            <a:avLst/>
          </a:prstGeom>
          <a:noFill/>
          <a:ln/>
        </p:spPr>
        <p:txBody>
          <a:bodyPr wrap="square"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Daily Scrum</a:t>
            </a:r>
            <a:endParaRPr lang="en-US" sz="1350" dirty="0"/>
          </a:p>
        </p:txBody>
      </p:sp>
      <p:sp>
        <p:nvSpPr>
          <p:cNvPr id="17" name="Text 15"/>
          <p:cNvSpPr/>
          <p:nvPr/>
        </p:nvSpPr>
        <p:spPr>
          <a:xfrm>
            <a:off x="4946904" y="3337560"/>
            <a:ext cx="1691640" cy="1600200"/>
          </a:xfrm>
          <a:prstGeom prst="rect">
            <a:avLst/>
          </a:prstGeom>
          <a:noFill/>
          <a:ln/>
        </p:spPr>
        <p:txBody>
          <a:bodyPr wrap="square" rtlCol="0" anchor="t"/>
          <a:lstStyle/>
          <a:p>
            <a:pPr marL="0" indent="0" algn="l">
              <a:buNone/>
            </a:pPr>
            <a:r>
              <a:rPr lang="en-US" sz="1100" dirty="0">
                <a:solidFill>
                  <a:srgbClr val="CADCFC"/>
                </a:solidFill>
                <a:latin typeface="Calibri" pitchFamily="34" charset="0"/>
                <a:ea typeface="Calibri" pitchFamily="34" charset="-122"/>
                <a:cs typeface="Calibri" pitchFamily="34" charset="-120"/>
              </a:rPr>
              <a:t>A short daily check-in to surface blockers before they slow the team down.</a:t>
            </a:r>
            <a:endParaRPr lang="en-US" sz="1100" dirty="0"/>
          </a:p>
        </p:txBody>
      </p:sp>
      <p:sp>
        <p:nvSpPr>
          <p:cNvPr id="18" name="Shape 16"/>
          <p:cNvSpPr/>
          <p:nvPr/>
        </p:nvSpPr>
        <p:spPr>
          <a:xfrm>
            <a:off x="6793992" y="3392424"/>
            <a:ext cx="128016" cy="164592"/>
          </a:xfrm>
          <a:prstGeom prst="chevron">
            <a:avLst/>
          </a:prstGeom>
          <a:solidFill>
            <a:srgbClr val="1E2761"/>
          </a:solidFill>
          <a:ln w="12700">
            <a:solidFill>
              <a:srgbClr val="1E2761"/>
            </a:solidFill>
            <a:prstDash val="solid"/>
          </a:ln>
        </p:spPr>
        <p:txBody>
          <a:bodyPr/>
          <a:lstStyle/>
          <a:p>
            <a:endParaRPr lang="en-US"/>
          </a:p>
        </p:txBody>
      </p:sp>
      <p:sp>
        <p:nvSpPr>
          <p:cNvPr id="19" name="Shape 17"/>
          <p:cNvSpPr/>
          <p:nvPr/>
        </p:nvSpPr>
        <p:spPr>
          <a:xfrm>
            <a:off x="6940296" y="1828800"/>
            <a:ext cx="1965960" cy="3291840"/>
          </a:xfrm>
          <a:prstGeom prst="roundRect">
            <a:avLst>
              <a:gd name="adj" fmla="val 4651"/>
            </a:avLst>
          </a:prstGeom>
          <a:solidFill>
            <a:srgbClr val="CADCFC"/>
          </a:solidFill>
          <a:ln w="12700">
            <a:solidFill>
              <a:srgbClr val="CADCFC"/>
            </a:solidFill>
            <a:prstDash val="solid"/>
          </a:ln>
        </p:spPr>
        <p:txBody>
          <a:bodyPr/>
          <a:lstStyle/>
          <a:p>
            <a:endParaRPr lang="en-US"/>
          </a:p>
        </p:txBody>
      </p:sp>
      <p:sp>
        <p:nvSpPr>
          <p:cNvPr id="20" name="Text 18"/>
          <p:cNvSpPr/>
          <p:nvPr/>
        </p:nvSpPr>
        <p:spPr>
          <a:xfrm>
            <a:off x="7077456" y="1965960"/>
            <a:ext cx="548640" cy="457200"/>
          </a:xfrm>
          <a:prstGeom prst="rect">
            <a:avLst/>
          </a:prstGeom>
          <a:noFill/>
          <a:ln/>
        </p:spPr>
        <p:txBody>
          <a:bodyPr wrap="square"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7077456" y="2514600"/>
            <a:ext cx="1691640" cy="822960"/>
          </a:xfrm>
          <a:prstGeom prst="rect">
            <a:avLst/>
          </a:prstGeom>
          <a:noFill/>
          <a:ln/>
        </p:spPr>
        <p:txBody>
          <a:bodyPr wrap="square" rtlCol="0" anchor="ctr"/>
          <a:lstStyle/>
          <a:p>
            <a:pPr marL="0" indent="0" algn="l">
              <a:buNone/>
            </a:pPr>
            <a:r>
              <a:rPr lang="en-US" sz="1350" b="1" dirty="0">
                <a:solidFill>
                  <a:srgbClr val="1E2761"/>
                </a:solidFill>
                <a:latin typeface="Calibri" pitchFamily="34" charset="0"/>
                <a:ea typeface="Calibri" pitchFamily="34" charset="-122"/>
                <a:cs typeface="Calibri" pitchFamily="34" charset="-120"/>
              </a:rPr>
              <a:t>Sprint Review</a:t>
            </a:r>
            <a:endParaRPr lang="en-US" sz="1350" dirty="0"/>
          </a:p>
        </p:txBody>
      </p:sp>
      <p:sp>
        <p:nvSpPr>
          <p:cNvPr id="22" name="Text 20"/>
          <p:cNvSpPr/>
          <p:nvPr/>
        </p:nvSpPr>
        <p:spPr>
          <a:xfrm>
            <a:off x="7077456" y="3337560"/>
            <a:ext cx="1691640" cy="1600200"/>
          </a:xfrm>
          <a:prstGeom prst="rect">
            <a:avLst/>
          </a:prstGeom>
          <a:noFill/>
          <a:ln/>
        </p:spPr>
        <p:txBody>
          <a:bodyPr wrap="square" rtlCol="0" anchor="t"/>
          <a:lstStyle/>
          <a:p>
            <a:pPr marL="0" indent="0" algn="l">
              <a:buNone/>
            </a:pPr>
            <a:r>
              <a:rPr lang="en-US" sz="1100" dirty="0">
                <a:solidFill>
                  <a:srgbClr val="1E2761"/>
                </a:solidFill>
                <a:latin typeface="Calibri" pitchFamily="34" charset="0"/>
                <a:ea typeface="Calibri" pitchFamily="34" charset="-122"/>
                <a:cs typeface="Calibri" pitchFamily="34" charset="-120"/>
              </a:rPr>
              <a:t>Stakeholders see working software and give feedback before more work is built on it.</a:t>
            </a:r>
            <a:endParaRPr lang="en-US" sz="1100" dirty="0"/>
          </a:p>
        </p:txBody>
      </p:sp>
      <p:sp>
        <p:nvSpPr>
          <p:cNvPr id="23" name="Shape 21"/>
          <p:cNvSpPr/>
          <p:nvPr/>
        </p:nvSpPr>
        <p:spPr>
          <a:xfrm>
            <a:off x="8924544" y="3392424"/>
            <a:ext cx="128016" cy="164592"/>
          </a:xfrm>
          <a:prstGeom prst="chevron">
            <a:avLst/>
          </a:prstGeom>
          <a:solidFill>
            <a:srgbClr val="1E2761"/>
          </a:solidFill>
          <a:ln w="12700">
            <a:solidFill>
              <a:srgbClr val="1E2761"/>
            </a:solidFill>
            <a:prstDash val="solid"/>
          </a:ln>
        </p:spPr>
        <p:txBody>
          <a:bodyPr/>
          <a:lstStyle/>
          <a:p>
            <a:endParaRPr lang="en-US"/>
          </a:p>
        </p:txBody>
      </p:sp>
      <p:sp>
        <p:nvSpPr>
          <p:cNvPr id="24" name="Shape 22"/>
          <p:cNvSpPr/>
          <p:nvPr/>
        </p:nvSpPr>
        <p:spPr>
          <a:xfrm>
            <a:off x="9070848" y="1828800"/>
            <a:ext cx="1965960" cy="3291840"/>
          </a:xfrm>
          <a:prstGeom prst="roundRect">
            <a:avLst>
              <a:gd name="adj" fmla="val 4651"/>
            </a:avLst>
          </a:prstGeom>
          <a:solidFill>
            <a:srgbClr val="1E2761"/>
          </a:solidFill>
          <a:ln w="12700">
            <a:solidFill>
              <a:srgbClr val="1E2761"/>
            </a:solidFill>
            <a:prstDash val="solid"/>
          </a:ln>
        </p:spPr>
        <p:txBody>
          <a:bodyPr/>
          <a:lstStyle/>
          <a:p>
            <a:endParaRPr lang="en-US"/>
          </a:p>
        </p:txBody>
      </p:sp>
      <p:sp>
        <p:nvSpPr>
          <p:cNvPr id="25" name="Text 23"/>
          <p:cNvSpPr/>
          <p:nvPr/>
        </p:nvSpPr>
        <p:spPr>
          <a:xfrm>
            <a:off x="9208008" y="1965960"/>
            <a:ext cx="548640" cy="457200"/>
          </a:xfrm>
          <a:prstGeom prst="rect">
            <a:avLst/>
          </a:prstGeom>
          <a:noFill/>
          <a:ln/>
        </p:spPr>
        <p:txBody>
          <a:bodyPr wrap="square" rtlCol="0" anchor="ctr"/>
          <a:lstStyle/>
          <a:p>
            <a:pPr marL="0" indent="0">
              <a:buNone/>
            </a:pPr>
            <a:r>
              <a:rPr lang="en-US" sz="2000" b="1" dirty="0">
                <a:solidFill>
                  <a:srgbClr val="CADCFC"/>
                </a:solidFill>
                <a:latin typeface="Calibri" pitchFamily="34" charset="0"/>
                <a:ea typeface="Calibri" pitchFamily="34" charset="-122"/>
                <a:cs typeface="Calibri" pitchFamily="34" charset="-120"/>
              </a:rPr>
              <a:t>5</a:t>
            </a:r>
            <a:endParaRPr lang="en-US" sz="2000" dirty="0"/>
          </a:p>
        </p:txBody>
      </p:sp>
      <p:sp>
        <p:nvSpPr>
          <p:cNvPr id="26" name="Text 24"/>
          <p:cNvSpPr/>
          <p:nvPr/>
        </p:nvSpPr>
        <p:spPr>
          <a:xfrm>
            <a:off x="9208008" y="2514600"/>
            <a:ext cx="1691640" cy="822960"/>
          </a:xfrm>
          <a:prstGeom prst="rect">
            <a:avLst/>
          </a:prstGeom>
          <a:noFill/>
          <a:ln/>
        </p:spPr>
        <p:txBody>
          <a:bodyPr wrap="square" rtlCol="0" anchor="ctr"/>
          <a:lstStyle/>
          <a:p>
            <a:pPr marL="0" indent="0" algn="l">
              <a:buNone/>
            </a:pPr>
            <a:r>
              <a:rPr lang="en-US" sz="1350" b="1" dirty="0">
                <a:solidFill>
                  <a:srgbClr val="FFFFFF"/>
                </a:solidFill>
                <a:latin typeface="Calibri" pitchFamily="34" charset="0"/>
                <a:ea typeface="Calibri" pitchFamily="34" charset="-122"/>
                <a:cs typeface="Calibri" pitchFamily="34" charset="-120"/>
              </a:rPr>
              <a:t>Retrospective</a:t>
            </a:r>
            <a:endParaRPr lang="en-US" sz="1350" dirty="0"/>
          </a:p>
        </p:txBody>
      </p:sp>
      <p:sp>
        <p:nvSpPr>
          <p:cNvPr id="27" name="Text 25"/>
          <p:cNvSpPr/>
          <p:nvPr/>
        </p:nvSpPr>
        <p:spPr>
          <a:xfrm>
            <a:off x="9208008" y="3337560"/>
            <a:ext cx="1691640" cy="1600200"/>
          </a:xfrm>
          <a:prstGeom prst="rect">
            <a:avLst/>
          </a:prstGeom>
          <a:noFill/>
          <a:ln/>
        </p:spPr>
        <p:txBody>
          <a:bodyPr wrap="square" rtlCol="0" anchor="t"/>
          <a:lstStyle/>
          <a:p>
            <a:pPr marL="0" indent="0" algn="l">
              <a:buNone/>
            </a:pPr>
            <a:r>
              <a:rPr lang="en-US" sz="1100" dirty="0">
                <a:solidFill>
                  <a:srgbClr val="CADCFC"/>
                </a:solidFill>
                <a:latin typeface="Calibri" pitchFamily="34" charset="0"/>
                <a:ea typeface="Calibri" pitchFamily="34" charset="-122"/>
                <a:cs typeface="Calibri" pitchFamily="34" charset="-120"/>
              </a:rPr>
              <a:t>The team looks at how the sprint went and fixes what is slowing them down.</a:t>
            </a:r>
            <a:endParaRPr lang="en-US" sz="1100" dirty="0"/>
          </a:p>
        </p:txBody>
      </p:sp>
      <p:sp>
        <p:nvSpPr>
          <p:cNvPr id="28" name="Text 26"/>
          <p:cNvSpPr/>
          <p:nvPr/>
        </p:nvSpPr>
        <p:spPr>
          <a:xfrm>
            <a:off x="548640" y="5349240"/>
            <a:ext cx="10058400" cy="365760"/>
          </a:xfrm>
          <a:prstGeom prst="rect">
            <a:avLst/>
          </a:prstGeom>
          <a:noFill/>
          <a:ln/>
        </p:spPr>
        <p:txBody>
          <a:bodyPr wrap="square" rtlCol="0" anchor="ctr"/>
          <a:lstStyle/>
          <a:p>
            <a:pPr marL="0" indent="0">
              <a:buNone/>
            </a:pPr>
            <a:r>
              <a:rPr lang="en-US" sz="1250" dirty="0">
                <a:solidFill>
                  <a:srgbClr val="5A5A6E"/>
                </a:solidFill>
                <a:latin typeface="Calibri" pitchFamily="34" charset="0"/>
                <a:ea typeface="Calibri" pitchFamily="34" charset="-122"/>
                <a:cs typeface="Calibri" pitchFamily="34" charset="-120"/>
              </a:rPr>
              <a:t>The cycle repeats every sprint, feeding lessons from one sprint into the next.</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177800"/>
            <a:ext cx="10058400" cy="78232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Waterfall Would Have Looked Like</a:t>
            </a:r>
            <a:endParaRPr lang="en-US" sz="3000" dirty="0"/>
          </a:p>
        </p:txBody>
      </p:sp>
      <p:sp>
        <p:nvSpPr>
          <p:cNvPr id="3" name="Text 1"/>
          <p:cNvSpPr/>
          <p:nvPr/>
        </p:nvSpPr>
        <p:spPr>
          <a:xfrm>
            <a:off x="548640" y="960120"/>
            <a:ext cx="10058400" cy="365760"/>
          </a:xfrm>
          <a:prstGeom prst="rect">
            <a:avLst/>
          </a:prstGeom>
          <a:noFill/>
          <a:ln/>
        </p:spPr>
        <p:txBody>
          <a:bodyPr wrap="square" rtlCol="0" anchor="ctr"/>
          <a:lstStyle/>
          <a:p>
            <a:pPr marL="0" indent="0">
              <a:buNone/>
            </a:pPr>
            <a:r>
              <a:rPr lang="en-US" sz="1400" dirty="0">
                <a:solidFill>
                  <a:srgbClr val="5A5A6E"/>
                </a:solidFill>
                <a:latin typeface="Calibri" pitchFamily="34" charset="0"/>
                <a:ea typeface="Calibri" pitchFamily="34" charset="-122"/>
                <a:cs typeface="Calibri" pitchFamily="34" charset="-120"/>
              </a:rPr>
              <a:t>The Module Five destination pivot, under each approach</a:t>
            </a:r>
            <a:endParaRPr lang="en-US" sz="1400" dirty="0"/>
          </a:p>
        </p:txBody>
      </p:sp>
      <p:sp>
        <p:nvSpPr>
          <p:cNvPr id="4" name="Shape 2"/>
          <p:cNvSpPr/>
          <p:nvPr/>
        </p:nvSpPr>
        <p:spPr>
          <a:xfrm>
            <a:off x="548640" y="1600200"/>
            <a:ext cx="5120640" cy="4297680"/>
          </a:xfrm>
          <a:prstGeom prst="roundRect">
            <a:avLst>
              <a:gd name="adj" fmla="val 2128"/>
            </a:avLst>
          </a:prstGeom>
          <a:solidFill>
            <a:srgbClr val="F4F6FC"/>
          </a:solidFill>
          <a:ln w="12700">
            <a:solidFill>
              <a:srgbClr val="F4F6FC"/>
            </a:solidFill>
            <a:prstDash val="solid"/>
          </a:ln>
        </p:spPr>
        <p:txBody>
          <a:bodyPr/>
          <a:lstStyle/>
          <a:p>
            <a:endParaRPr lang="en-US"/>
          </a:p>
        </p:txBody>
      </p:sp>
      <p:sp>
        <p:nvSpPr>
          <p:cNvPr id="5" name="Text 3"/>
          <p:cNvSpPr/>
          <p:nvPr/>
        </p:nvSpPr>
        <p:spPr>
          <a:xfrm>
            <a:off x="822960" y="1828800"/>
            <a:ext cx="4572000" cy="457200"/>
          </a:xfrm>
          <a:prstGeom prst="rect">
            <a:avLst/>
          </a:prstGeom>
          <a:noFill/>
          <a:ln/>
        </p:spPr>
        <p:txBody>
          <a:bodyPr wrap="square" rtlCol="0" anchor="ctr"/>
          <a:lstStyle/>
          <a:p>
            <a:pPr marL="0" indent="0">
              <a:buNone/>
            </a:pPr>
            <a:r>
              <a:rPr lang="en-US" sz="1800" b="1" dirty="0">
                <a:solidFill>
                  <a:srgbClr val="1E2761"/>
                </a:solidFill>
                <a:latin typeface="Calibri" pitchFamily="34" charset="0"/>
                <a:ea typeface="Calibri" pitchFamily="34" charset="-122"/>
                <a:cs typeface="Calibri" pitchFamily="34" charset="-120"/>
              </a:rPr>
              <a:t>Waterfall</a:t>
            </a:r>
            <a:endParaRPr lang="en-US" sz="1800" dirty="0"/>
          </a:p>
        </p:txBody>
      </p:sp>
      <p:sp>
        <p:nvSpPr>
          <p:cNvPr id="6" name="Text 4"/>
          <p:cNvSpPr/>
          <p:nvPr/>
        </p:nvSpPr>
        <p:spPr>
          <a:xfrm>
            <a:off x="822960" y="2423160"/>
            <a:ext cx="4572000" cy="3200400"/>
          </a:xfrm>
          <a:prstGeom prst="rect">
            <a:avLst/>
          </a:prstGeom>
          <a:noFill/>
          <a:ln/>
        </p:spPr>
        <p:txBody>
          <a:bodyPr wrap="square" rtlCol="0" anchor="t"/>
          <a:lstStyle/>
          <a:p>
            <a:pPr marL="342900" indent="-342900">
              <a:spcAft>
                <a:spcPts val="1000"/>
              </a:spcAft>
              <a:buSzPct val="100000"/>
              <a:buChar char="•"/>
            </a:pPr>
            <a:r>
              <a:rPr lang="en-US" sz="1350" dirty="0">
                <a:solidFill>
                  <a:srgbClr val="1E2761"/>
                </a:solidFill>
                <a:latin typeface="Calibri" pitchFamily="34" charset="0"/>
                <a:ea typeface="Calibri" pitchFamily="34" charset="-122"/>
                <a:cs typeface="Calibri" pitchFamily="34" charset="-120"/>
              </a:rPr>
              <a:t>Requirements are locked before design starts.</a:t>
            </a:r>
            <a:endParaRPr lang="en-US" sz="1350" dirty="0"/>
          </a:p>
          <a:p>
            <a:pPr marL="342900" indent="-342900">
              <a:spcAft>
                <a:spcPts val="1000"/>
              </a:spcAft>
              <a:buSzPct val="100000"/>
              <a:buChar char="•"/>
            </a:pPr>
            <a:r>
              <a:rPr lang="en-US" sz="1350" dirty="0">
                <a:solidFill>
                  <a:srgbClr val="1E2761"/>
                </a:solidFill>
                <a:latin typeface="Calibri" pitchFamily="34" charset="0"/>
                <a:ea typeface="Calibri" pitchFamily="34" charset="-122"/>
                <a:cs typeface="Calibri" pitchFamily="34" charset="-120"/>
              </a:rPr>
              <a:t>The wellness pivot would mean reopening the requirements and design phases already signed off.</a:t>
            </a:r>
            <a:endParaRPr lang="en-US" sz="1350" dirty="0"/>
          </a:p>
          <a:p>
            <a:pPr marL="342900" indent="-342900">
              <a:spcAft>
                <a:spcPts val="1000"/>
              </a:spcAft>
              <a:buSzPct val="100000"/>
              <a:buChar char="•"/>
            </a:pPr>
            <a:r>
              <a:rPr lang="en-US" sz="1350" dirty="0">
                <a:solidFill>
                  <a:srgbClr val="1E2761"/>
                </a:solidFill>
                <a:latin typeface="Calibri" pitchFamily="34" charset="0"/>
                <a:ea typeface="Calibri" pitchFamily="34" charset="-122"/>
                <a:cs typeface="Calibri" pitchFamily="34" charset="-120"/>
              </a:rPr>
              <a:t>Rework cascades backward through every completed phase, not just the slideshow content.</a:t>
            </a:r>
            <a:endParaRPr lang="en-US" sz="1350" dirty="0"/>
          </a:p>
          <a:p>
            <a:pPr marL="342900" indent="-342900">
              <a:buSzPct val="100000"/>
              <a:buChar char="•"/>
            </a:pPr>
            <a:r>
              <a:rPr lang="en-US" sz="1350" dirty="0">
                <a:solidFill>
                  <a:srgbClr val="1E2761"/>
                </a:solidFill>
                <a:latin typeface="Calibri" pitchFamily="34" charset="0"/>
                <a:ea typeface="Calibri" pitchFamily="34" charset="-122"/>
                <a:cs typeface="Calibri" pitchFamily="34" charset="-120"/>
              </a:rPr>
              <a:t>The team waits for a new plan before building anything new.</a:t>
            </a:r>
            <a:endParaRPr lang="en-US" sz="1350" dirty="0"/>
          </a:p>
        </p:txBody>
      </p:sp>
      <p:sp>
        <p:nvSpPr>
          <p:cNvPr id="7" name="Shape 5"/>
          <p:cNvSpPr/>
          <p:nvPr/>
        </p:nvSpPr>
        <p:spPr>
          <a:xfrm>
            <a:off x="5943600" y="1600200"/>
            <a:ext cx="5120640" cy="4297680"/>
          </a:xfrm>
          <a:prstGeom prst="roundRect">
            <a:avLst>
              <a:gd name="adj" fmla="val 2128"/>
            </a:avLst>
          </a:prstGeom>
          <a:solidFill>
            <a:srgbClr val="1E2761"/>
          </a:solidFill>
          <a:ln w="12700">
            <a:solidFill>
              <a:srgbClr val="1E2761"/>
            </a:solidFill>
            <a:prstDash val="solid"/>
          </a:ln>
        </p:spPr>
        <p:txBody>
          <a:bodyPr/>
          <a:lstStyle/>
          <a:p>
            <a:endParaRPr lang="en-US"/>
          </a:p>
        </p:txBody>
      </p:sp>
      <p:sp>
        <p:nvSpPr>
          <p:cNvPr id="8" name="Text 6"/>
          <p:cNvSpPr/>
          <p:nvPr/>
        </p:nvSpPr>
        <p:spPr>
          <a:xfrm>
            <a:off x="6217920" y="1828800"/>
            <a:ext cx="4572000" cy="457200"/>
          </a:xfrm>
          <a:prstGeom prst="rect">
            <a:avLst/>
          </a:prstGeom>
          <a:noFill/>
          <a:ln/>
        </p:spPr>
        <p:txBody>
          <a:bodyPr wrap="square"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Agile (What Happened)</a:t>
            </a:r>
            <a:endParaRPr lang="en-US" sz="1800" dirty="0"/>
          </a:p>
        </p:txBody>
      </p:sp>
      <p:sp>
        <p:nvSpPr>
          <p:cNvPr id="9" name="Text 7"/>
          <p:cNvSpPr/>
          <p:nvPr/>
        </p:nvSpPr>
        <p:spPr>
          <a:xfrm>
            <a:off x="6217920" y="2423160"/>
            <a:ext cx="4572000" cy="3200400"/>
          </a:xfrm>
          <a:prstGeom prst="rect">
            <a:avLst/>
          </a:prstGeom>
          <a:noFill/>
          <a:ln/>
        </p:spPr>
        <p:txBody>
          <a:bodyPr wrap="square" rtlCol="0" anchor="t"/>
          <a:lstStyle/>
          <a:p>
            <a:pPr marL="342900" indent="-342900">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The story was already scoped tight with clear acceptance criteria.</a:t>
            </a:r>
            <a:endParaRPr lang="en-US" sz="1350" dirty="0"/>
          </a:p>
          <a:p>
            <a:pPr marL="342900" indent="-342900">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Only the destinations, images, and slide text needed to change.</a:t>
            </a:r>
            <a:endParaRPr lang="en-US" sz="1350" dirty="0"/>
          </a:p>
          <a:p>
            <a:pPr marL="342900" indent="-342900">
              <a:spcAft>
                <a:spcPts val="1000"/>
              </a:spcAft>
              <a:buSzPct val="100000"/>
              <a:buChar char="•"/>
            </a:pPr>
            <a:r>
              <a:rPr lang="en-US" sz="1350" dirty="0">
                <a:solidFill>
                  <a:srgbClr val="CADCFC"/>
                </a:solidFill>
                <a:latin typeface="Calibri" pitchFamily="34" charset="0"/>
                <a:ea typeface="Calibri" pitchFamily="34" charset="-122"/>
                <a:cs typeface="Calibri" pitchFamily="34" charset="-120"/>
              </a:rPr>
              <a:t>One email to the Product Owner and tester confirmed scope before any code was written.</a:t>
            </a:r>
            <a:endParaRPr lang="en-US" sz="1350" dirty="0"/>
          </a:p>
          <a:p>
            <a:pPr marL="342900" indent="-342900">
              <a:buSzPct val="100000"/>
              <a:buChar char="•"/>
            </a:pPr>
            <a:r>
              <a:rPr lang="en-US" sz="1350" dirty="0">
                <a:solidFill>
                  <a:srgbClr val="CADCFC"/>
                </a:solidFill>
                <a:latin typeface="Calibri" pitchFamily="34" charset="0"/>
                <a:ea typeface="Calibri" pitchFamily="34" charset="-122"/>
                <a:cs typeface="Calibri" pitchFamily="34" charset="-120"/>
              </a:rPr>
              <a:t>The change was built once, with no rework down the line.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237067"/>
            <a:ext cx="10058400" cy="494453"/>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Waterfall or Agile: What to Weigh</a:t>
            </a:r>
            <a:endParaRPr lang="en-US" sz="3000" dirty="0"/>
          </a:p>
        </p:txBody>
      </p:sp>
      <p:sp>
        <p:nvSpPr>
          <p:cNvPr id="3" name="Text 1"/>
          <p:cNvSpPr/>
          <p:nvPr/>
        </p:nvSpPr>
        <p:spPr>
          <a:xfrm>
            <a:off x="548640" y="960120"/>
            <a:ext cx="10058400" cy="365760"/>
          </a:xfrm>
          <a:prstGeom prst="rect">
            <a:avLst/>
          </a:prstGeom>
          <a:noFill/>
          <a:ln/>
        </p:spPr>
        <p:txBody>
          <a:bodyPr wrap="square" rtlCol="0" anchor="ctr"/>
          <a:lstStyle/>
          <a:p>
            <a:pPr marL="0" indent="0">
              <a:buNone/>
            </a:pPr>
            <a:r>
              <a:rPr lang="en-US" sz="1400" dirty="0">
                <a:solidFill>
                  <a:srgbClr val="5A5A6E"/>
                </a:solidFill>
                <a:latin typeface="Calibri" pitchFamily="34" charset="0"/>
                <a:ea typeface="Calibri" pitchFamily="34" charset="-122"/>
                <a:cs typeface="Calibri" pitchFamily="34" charset="-120"/>
              </a:rPr>
              <a:t>Neither approach is universally better. Fit depends on the project.</a:t>
            </a:r>
            <a:endParaRPr lang="en-US" sz="1400" dirty="0"/>
          </a:p>
        </p:txBody>
      </p:sp>
      <p:sp>
        <p:nvSpPr>
          <p:cNvPr id="4" name="Shape 2"/>
          <p:cNvSpPr/>
          <p:nvPr/>
        </p:nvSpPr>
        <p:spPr>
          <a:xfrm>
            <a:off x="548640" y="1691640"/>
            <a:ext cx="5120640" cy="1234440"/>
          </a:xfrm>
          <a:prstGeom prst="roundRect">
            <a:avLst>
              <a:gd name="adj" fmla="val 5926"/>
            </a:avLst>
          </a:prstGeom>
          <a:solidFill>
            <a:srgbClr val="F4F6FC"/>
          </a:solidFill>
          <a:ln w="12700">
            <a:solidFill>
              <a:srgbClr val="F4F6FC"/>
            </a:solidFill>
            <a:prstDash val="solid"/>
          </a:ln>
        </p:spPr>
        <p:txBody>
          <a:bodyPr/>
          <a:lstStyle/>
          <a:p>
            <a:endParaRPr lang="en-US"/>
          </a:p>
        </p:txBody>
      </p:sp>
      <p:sp>
        <p:nvSpPr>
          <p:cNvPr id="5" name="Shape 3"/>
          <p:cNvSpPr/>
          <p:nvPr/>
        </p:nvSpPr>
        <p:spPr>
          <a:xfrm>
            <a:off x="777240" y="1892808"/>
            <a:ext cx="384048" cy="384048"/>
          </a:xfrm>
          <a:prstGeom prst="ellipse">
            <a:avLst/>
          </a:prstGeom>
          <a:solidFill>
            <a:srgbClr val="1E2761"/>
          </a:solidFill>
          <a:ln/>
        </p:spPr>
        <p:txBody>
          <a:bodyPr/>
          <a:lstStyle/>
          <a:p>
            <a:endParaRPr lang="en-US"/>
          </a:p>
        </p:txBody>
      </p:sp>
      <p:sp>
        <p:nvSpPr>
          <p:cNvPr id="6" name="Text 4"/>
          <p:cNvSpPr/>
          <p:nvPr/>
        </p:nvSpPr>
        <p:spPr>
          <a:xfrm>
            <a:off x="777240" y="189280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325880" y="1874520"/>
            <a:ext cx="411480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Requirement Stability</a:t>
            </a:r>
            <a:endParaRPr lang="en-US" sz="1500" dirty="0"/>
          </a:p>
        </p:txBody>
      </p:sp>
      <p:sp>
        <p:nvSpPr>
          <p:cNvPr id="8" name="Text 6"/>
          <p:cNvSpPr/>
          <p:nvPr/>
        </p:nvSpPr>
        <p:spPr>
          <a:xfrm>
            <a:off x="777240" y="2377440"/>
            <a:ext cx="4663440" cy="411480"/>
          </a:xfrm>
          <a:prstGeom prst="rect">
            <a:avLst/>
          </a:prstGeom>
          <a:noFill/>
          <a:ln/>
        </p:spPr>
        <p:txBody>
          <a:bodyPr wrap="square" rtlCol="0" anchor="t"/>
          <a:lstStyle/>
          <a:p>
            <a:pPr marL="0" indent="0">
              <a:buNone/>
            </a:pPr>
            <a:r>
              <a:rPr lang="en-US" sz="1200" dirty="0">
                <a:solidFill>
                  <a:srgbClr val="1E2761"/>
                </a:solidFill>
                <a:latin typeface="Calibri" pitchFamily="34" charset="0"/>
                <a:ea typeface="Calibri" pitchFamily="34" charset="-122"/>
                <a:cs typeface="Calibri" pitchFamily="34" charset="-120"/>
              </a:rPr>
              <a:t>Fixed, well-understood requirements favor Waterfall. Requirements likely to change favor Agile.</a:t>
            </a:r>
            <a:endParaRPr lang="en-US" sz="1200" dirty="0"/>
          </a:p>
        </p:txBody>
      </p:sp>
      <p:sp>
        <p:nvSpPr>
          <p:cNvPr id="9" name="Shape 7"/>
          <p:cNvSpPr/>
          <p:nvPr/>
        </p:nvSpPr>
        <p:spPr>
          <a:xfrm>
            <a:off x="5943600" y="1691640"/>
            <a:ext cx="5120640" cy="1234440"/>
          </a:xfrm>
          <a:prstGeom prst="roundRect">
            <a:avLst>
              <a:gd name="adj" fmla="val 5926"/>
            </a:avLst>
          </a:prstGeom>
          <a:solidFill>
            <a:srgbClr val="F4F6FC"/>
          </a:solidFill>
          <a:ln w="12700">
            <a:solidFill>
              <a:srgbClr val="F4F6FC"/>
            </a:solidFill>
            <a:prstDash val="solid"/>
          </a:ln>
        </p:spPr>
        <p:txBody>
          <a:bodyPr/>
          <a:lstStyle/>
          <a:p>
            <a:endParaRPr lang="en-US"/>
          </a:p>
        </p:txBody>
      </p:sp>
      <p:sp>
        <p:nvSpPr>
          <p:cNvPr id="10" name="Shape 8"/>
          <p:cNvSpPr/>
          <p:nvPr/>
        </p:nvSpPr>
        <p:spPr>
          <a:xfrm>
            <a:off x="6172200" y="1892808"/>
            <a:ext cx="384048" cy="384048"/>
          </a:xfrm>
          <a:prstGeom prst="ellipse">
            <a:avLst/>
          </a:prstGeom>
          <a:solidFill>
            <a:srgbClr val="1E2761"/>
          </a:solidFill>
          <a:ln/>
        </p:spPr>
        <p:txBody>
          <a:bodyPr/>
          <a:lstStyle/>
          <a:p>
            <a:endParaRPr lang="en-US"/>
          </a:p>
        </p:txBody>
      </p:sp>
      <p:sp>
        <p:nvSpPr>
          <p:cNvPr id="11" name="Text 9"/>
          <p:cNvSpPr/>
          <p:nvPr/>
        </p:nvSpPr>
        <p:spPr>
          <a:xfrm>
            <a:off x="6172200" y="189280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6720840" y="1874520"/>
            <a:ext cx="411480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Stakeholder Involvement</a:t>
            </a:r>
            <a:endParaRPr lang="en-US" sz="1500" dirty="0"/>
          </a:p>
        </p:txBody>
      </p:sp>
      <p:sp>
        <p:nvSpPr>
          <p:cNvPr id="13" name="Text 11"/>
          <p:cNvSpPr/>
          <p:nvPr/>
        </p:nvSpPr>
        <p:spPr>
          <a:xfrm>
            <a:off x="6172200" y="2377440"/>
            <a:ext cx="4663440" cy="411480"/>
          </a:xfrm>
          <a:prstGeom prst="rect">
            <a:avLst/>
          </a:prstGeom>
          <a:noFill/>
          <a:ln/>
        </p:spPr>
        <p:txBody>
          <a:bodyPr wrap="square" rtlCol="0" anchor="t"/>
          <a:lstStyle/>
          <a:p>
            <a:pPr marL="0" indent="0">
              <a:buNone/>
            </a:pPr>
            <a:r>
              <a:rPr lang="en-US" sz="1200" dirty="0">
                <a:solidFill>
                  <a:srgbClr val="1E2761"/>
                </a:solidFill>
                <a:latin typeface="Calibri" pitchFamily="34" charset="0"/>
                <a:ea typeface="Calibri" pitchFamily="34" charset="-122"/>
                <a:cs typeface="Calibri" pitchFamily="34" charset="-120"/>
              </a:rPr>
              <a:t>Agile needs regular stakeholder feedback loops. Waterfall works when stakeholders sign off once.</a:t>
            </a:r>
            <a:endParaRPr lang="en-US" sz="1200" dirty="0"/>
          </a:p>
        </p:txBody>
      </p:sp>
      <p:sp>
        <p:nvSpPr>
          <p:cNvPr id="14" name="Shape 12"/>
          <p:cNvSpPr/>
          <p:nvPr/>
        </p:nvSpPr>
        <p:spPr>
          <a:xfrm>
            <a:off x="548640" y="3154680"/>
            <a:ext cx="5120640" cy="1234440"/>
          </a:xfrm>
          <a:prstGeom prst="roundRect">
            <a:avLst>
              <a:gd name="adj" fmla="val 5926"/>
            </a:avLst>
          </a:prstGeom>
          <a:solidFill>
            <a:srgbClr val="F4F6FC"/>
          </a:solidFill>
          <a:ln w="12700">
            <a:solidFill>
              <a:srgbClr val="F4F6FC"/>
            </a:solidFill>
            <a:prstDash val="solid"/>
          </a:ln>
        </p:spPr>
        <p:txBody>
          <a:bodyPr/>
          <a:lstStyle/>
          <a:p>
            <a:endParaRPr lang="en-US"/>
          </a:p>
        </p:txBody>
      </p:sp>
      <p:sp>
        <p:nvSpPr>
          <p:cNvPr id="15" name="Shape 13"/>
          <p:cNvSpPr/>
          <p:nvPr/>
        </p:nvSpPr>
        <p:spPr>
          <a:xfrm>
            <a:off x="777240" y="3355848"/>
            <a:ext cx="384048" cy="384048"/>
          </a:xfrm>
          <a:prstGeom prst="ellipse">
            <a:avLst/>
          </a:prstGeom>
          <a:solidFill>
            <a:srgbClr val="1E2761"/>
          </a:solidFill>
          <a:ln/>
        </p:spPr>
        <p:txBody>
          <a:bodyPr/>
          <a:lstStyle/>
          <a:p>
            <a:endParaRPr lang="en-US"/>
          </a:p>
        </p:txBody>
      </p:sp>
      <p:sp>
        <p:nvSpPr>
          <p:cNvPr id="16" name="Text 14"/>
          <p:cNvSpPr/>
          <p:nvPr/>
        </p:nvSpPr>
        <p:spPr>
          <a:xfrm>
            <a:off x="777240" y="335584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325880" y="3337560"/>
            <a:ext cx="411480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Tolerance for Mid-Project Change</a:t>
            </a:r>
            <a:endParaRPr lang="en-US" sz="1500" dirty="0"/>
          </a:p>
        </p:txBody>
      </p:sp>
      <p:sp>
        <p:nvSpPr>
          <p:cNvPr id="18" name="Text 16"/>
          <p:cNvSpPr/>
          <p:nvPr/>
        </p:nvSpPr>
        <p:spPr>
          <a:xfrm>
            <a:off x="777240" y="3840480"/>
            <a:ext cx="4663440" cy="411480"/>
          </a:xfrm>
          <a:prstGeom prst="rect">
            <a:avLst/>
          </a:prstGeom>
          <a:noFill/>
          <a:ln/>
        </p:spPr>
        <p:txBody>
          <a:bodyPr wrap="square" rtlCol="0" anchor="t"/>
          <a:lstStyle/>
          <a:p>
            <a:pPr marL="0" indent="0">
              <a:buNone/>
            </a:pPr>
            <a:r>
              <a:rPr lang="en-US" sz="1200" dirty="0">
                <a:solidFill>
                  <a:srgbClr val="1E2761"/>
                </a:solidFill>
                <a:latin typeface="Calibri" pitchFamily="34" charset="0"/>
                <a:ea typeface="Calibri" pitchFamily="34" charset="-122"/>
                <a:cs typeface="Calibri" pitchFamily="34" charset="-120"/>
              </a:rPr>
              <a:t>Agile absorbs new direction without derailing the schedule, as shown by SNHU Travel's Module Five pivot.</a:t>
            </a:r>
            <a:endParaRPr lang="en-US" sz="1200" dirty="0"/>
          </a:p>
        </p:txBody>
      </p:sp>
      <p:sp>
        <p:nvSpPr>
          <p:cNvPr id="19" name="Shape 17"/>
          <p:cNvSpPr/>
          <p:nvPr/>
        </p:nvSpPr>
        <p:spPr>
          <a:xfrm>
            <a:off x="5943600" y="3154680"/>
            <a:ext cx="5120640" cy="1234440"/>
          </a:xfrm>
          <a:prstGeom prst="roundRect">
            <a:avLst>
              <a:gd name="adj" fmla="val 5926"/>
            </a:avLst>
          </a:prstGeom>
          <a:solidFill>
            <a:srgbClr val="F4F6FC"/>
          </a:solidFill>
          <a:ln w="12700">
            <a:solidFill>
              <a:srgbClr val="F4F6FC"/>
            </a:solidFill>
            <a:prstDash val="solid"/>
          </a:ln>
        </p:spPr>
        <p:txBody>
          <a:bodyPr/>
          <a:lstStyle/>
          <a:p>
            <a:endParaRPr lang="en-US"/>
          </a:p>
        </p:txBody>
      </p:sp>
      <p:sp>
        <p:nvSpPr>
          <p:cNvPr id="20" name="Shape 18"/>
          <p:cNvSpPr/>
          <p:nvPr/>
        </p:nvSpPr>
        <p:spPr>
          <a:xfrm>
            <a:off x="6172200" y="3355848"/>
            <a:ext cx="384048" cy="384048"/>
          </a:xfrm>
          <a:prstGeom prst="ellipse">
            <a:avLst/>
          </a:prstGeom>
          <a:solidFill>
            <a:srgbClr val="1E2761"/>
          </a:solidFill>
          <a:ln/>
        </p:spPr>
        <p:txBody>
          <a:bodyPr/>
          <a:lstStyle/>
          <a:p>
            <a:endParaRPr lang="en-US"/>
          </a:p>
        </p:txBody>
      </p:sp>
      <p:sp>
        <p:nvSpPr>
          <p:cNvPr id="21" name="Text 19"/>
          <p:cNvSpPr/>
          <p:nvPr/>
        </p:nvSpPr>
        <p:spPr>
          <a:xfrm>
            <a:off x="6172200" y="3355848"/>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6720840" y="3337560"/>
            <a:ext cx="4114800" cy="457200"/>
          </a:xfrm>
          <a:prstGeom prst="rect">
            <a:avLst/>
          </a:prstGeom>
          <a:noFill/>
          <a:ln/>
        </p:spPr>
        <p:txBody>
          <a:bodyPr wrap="square" rtlCol="0" anchor="ctr"/>
          <a:lstStyle/>
          <a:p>
            <a:pPr marL="0" indent="0">
              <a:buNone/>
            </a:pPr>
            <a:r>
              <a:rPr lang="en-US" sz="1500" b="1" dirty="0">
                <a:solidFill>
                  <a:srgbClr val="1E2761"/>
                </a:solidFill>
                <a:latin typeface="Calibri" pitchFamily="34" charset="0"/>
                <a:ea typeface="Calibri" pitchFamily="34" charset="-122"/>
                <a:cs typeface="Calibri" pitchFamily="34" charset="-120"/>
              </a:rPr>
              <a:t>Coordination Overhead</a:t>
            </a:r>
            <a:endParaRPr lang="en-US" sz="1500" dirty="0"/>
          </a:p>
        </p:txBody>
      </p:sp>
      <p:sp>
        <p:nvSpPr>
          <p:cNvPr id="23" name="Text 21"/>
          <p:cNvSpPr/>
          <p:nvPr/>
        </p:nvSpPr>
        <p:spPr>
          <a:xfrm>
            <a:off x="6172200" y="3840480"/>
            <a:ext cx="4663440" cy="411480"/>
          </a:xfrm>
          <a:prstGeom prst="rect">
            <a:avLst/>
          </a:prstGeom>
          <a:noFill/>
          <a:ln/>
        </p:spPr>
        <p:txBody>
          <a:bodyPr wrap="square" rtlCol="0" anchor="t"/>
          <a:lstStyle/>
          <a:p>
            <a:pPr marL="0" indent="0">
              <a:buNone/>
            </a:pPr>
            <a:r>
              <a:rPr lang="en-US" sz="1200" dirty="0">
                <a:solidFill>
                  <a:srgbClr val="1E2761"/>
                </a:solidFill>
                <a:latin typeface="Calibri" pitchFamily="34" charset="0"/>
                <a:ea typeface="Calibri" pitchFamily="34" charset="-122"/>
                <a:cs typeface="Calibri" pitchFamily="34" charset="-120"/>
              </a:rPr>
              <a:t>Agile's role handoffs and events add real coordination cost that a stable, linear project may not need.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31520" y="548640"/>
            <a:ext cx="10698480" cy="914400"/>
          </a:xfrm>
          <a:prstGeom prst="rect">
            <a:avLst/>
          </a:prstGeom>
          <a:noFill/>
          <a:ln/>
        </p:spPr>
        <p:txBody>
          <a:bodyPr wrap="square" rtlCol="0" anchor="ctr"/>
          <a:lstStyle/>
          <a:p>
            <a:pPr marL="0" indent="0" algn="ctr">
              <a:buNone/>
            </a:pPr>
            <a:r>
              <a:rPr lang="en-US" sz="3200" b="1" dirty="0">
                <a:solidFill>
                  <a:srgbClr val="0070C0"/>
                </a:solidFill>
                <a:latin typeface="Cambria" pitchFamily="34" charset="0"/>
                <a:ea typeface="Cambria" pitchFamily="34" charset="-122"/>
                <a:cs typeface="Cambria" pitchFamily="34" charset="-120"/>
              </a:rPr>
              <a:t>References</a:t>
            </a:r>
            <a:endParaRPr lang="en-US" sz="3200" dirty="0">
              <a:solidFill>
                <a:srgbClr val="0070C0"/>
              </a:solidFill>
            </a:endParaRPr>
          </a:p>
        </p:txBody>
      </p:sp>
      <p:sp>
        <p:nvSpPr>
          <p:cNvPr id="3" name="Text 1"/>
          <p:cNvSpPr/>
          <p:nvPr/>
        </p:nvSpPr>
        <p:spPr>
          <a:xfrm>
            <a:off x="731520" y="1463040"/>
            <a:ext cx="10698480" cy="4937760"/>
          </a:xfrm>
          <a:prstGeom prst="rect">
            <a:avLst/>
          </a:prstGeom>
          <a:noFill/>
          <a:ln/>
        </p:spPr>
        <p:txBody>
          <a:bodyPr wrap="square" rtlCol="0" anchor="t"/>
          <a:lstStyle/>
          <a:p>
            <a:pPr marL="0" indent="0" algn="ctr">
              <a:spcAft>
                <a:spcPts val="1800"/>
              </a:spcAft>
              <a:buNone/>
            </a:pPr>
            <a:r>
              <a:rPr lang="en-US" sz="1400" dirty="0">
                <a:solidFill>
                  <a:srgbClr val="0070C0"/>
                </a:solidFill>
                <a:latin typeface="Calibri" pitchFamily="34" charset="0"/>
                <a:ea typeface="Calibri" pitchFamily="34" charset="-122"/>
                <a:cs typeface="Calibri" pitchFamily="34" charset="-120"/>
              </a:rPr>
              <a:t>Asana. (2025). Kanban vs Scrum vs Agile vs Waterfall: What's the difference? https://asana.com/resources/waterfall-agile-kanban-scrum</a:t>
            </a:r>
            <a:endParaRPr lang="en-US" sz="1400" dirty="0">
              <a:solidFill>
                <a:srgbClr val="0070C0"/>
              </a:solidFill>
            </a:endParaRPr>
          </a:p>
          <a:p>
            <a:pPr marL="0" indent="0" algn="ctr">
              <a:spcAft>
                <a:spcPts val="1800"/>
              </a:spcAft>
              <a:buNone/>
            </a:pPr>
            <a:r>
              <a:rPr lang="en-US" sz="1400" dirty="0">
                <a:solidFill>
                  <a:srgbClr val="0070C0"/>
                </a:solidFill>
                <a:latin typeface="Calibri" pitchFamily="34" charset="0"/>
                <a:ea typeface="Calibri" pitchFamily="34" charset="-122"/>
                <a:cs typeface="Calibri" pitchFamily="34" charset="-120"/>
              </a:rPr>
              <a:t>Saravanos, A., &amp; Curinga, M. X. (2023). Simulating the software development lifecycle: The waterfall model. arXiv. https://doi.org/10.48550/arXiv.2308.03940</a:t>
            </a:r>
            <a:endParaRPr lang="en-US" sz="1400" dirty="0">
              <a:solidFill>
                <a:srgbClr val="0070C0"/>
              </a:solidFill>
            </a:endParaRPr>
          </a:p>
          <a:p>
            <a:pPr marL="0" indent="0" algn="ctr">
              <a:spcAft>
                <a:spcPts val="1800"/>
              </a:spcAft>
              <a:buNone/>
            </a:pPr>
            <a:r>
              <a:rPr lang="en-US" sz="1400" dirty="0">
                <a:solidFill>
                  <a:srgbClr val="0070C0"/>
                </a:solidFill>
                <a:latin typeface="Calibri" pitchFamily="34" charset="0"/>
                <a:ea typeface="Calibri" pitchFamily="34" charset="-122"/>
                <a:cs typeface="Calibri" pitchFamily="34" charset="-120"/>
              </a:rPr>
              <a:t>Tomaselli, G. P., Pinto, N. S., &amp; Acuña, C. (2025). Requirements management methods and practices for improving the quality of agile software development processes: A review of the literature. Requirements Engineering, 30, 371–398. https://doi.org/10.1007/s00766-025-00448-3</a:t>
            </a:r>
            <a:endParaRPr lang="en-US" sz="1400" dirty="0">
              <a:solidFill>
                <a:srgbClr val="0070C0"/>
              </a:solidFill>
            </a:endParaRPr>
          </a:p>
          <a:p>
            <a:pPr marL="0" indent="0" algn="ctr">
              <a:spcAft>
                <a:spcPts val="1800"/>
              </a:spcAft>
              <a:buNone/>
            </a:pPr>
            <a:r>
              <a:rPr lang="en-US" sz="1400" dirty="0">
                <a:solidFill>
                  <a:srgbClr val="0070C0"/>
                </a:solidFill>
                <a:latin typeface="Calibri" pitchFamily="34" charset="0"/>
                <a:ea typeface="Calibri" pitchFamily="34" charset="-122"/>
                <a:cs typeface="Calibri" pitchFamily="34" charset="-120"/>
              </a:rPr>
              <a:t>Verwijs, C., &amp; Russo, D. (2023). A theory of Scrum team effectiveness. ACM Transactions on Software Engineering and Methodology, 32(3), Article 74. https://doi.org/10.1145/3571849</a:t>
            </a:r>
            <a:endParaRPr lang="en-US" sz="1400" dirty="0">
              <a:solidFill>
                <a:srgbClr val="0070C0"/>
              </a:solidFill>
            </a:endParaRPr>
          </a:p>
        </p:txBody>
      </p:sp>
    </p:spTree>
  </p:cSld>
  <p:clrMapOvr>
    <a:masterClrMapping/>
  </p:clrMapOvr>
</p:sld>
</file>

<file path=ppt/theme/theme1.xml><?xml version="1.0" encoding="utf-8"?>
<a:theme xmlns:a="http://schemas.openxmlformats.org/drawingml/2006/main" name="Editorial">
  <a:themeElements>
    <a:clrScheme name="Editorial">
      <a:dk1>
        <a:sysClr val="windowText" lastClr="000000"/>
      </a:dk1>
      <a:lt1>
        <a:sysClr val="window" lastClr="FFFFFF"/>
      </a:lt1>
      <a:dk2>
        <a:srgbClr val="171717"/>
      </a:dk2>
      <a:lt2>
        <a:srgbClr val="F7F6F3"/>
      </a:lt2>
      <a:accent1>
        <a:srgbClr val="C8350F"/>
      </a:accent1>
      <a:accent2>
        <a:srgbClr val="B6A992"/>
      </a:accent2>
      <a:accent3>
        <a:srgbClr val="D59A6D"/>
      </a:accent3>
      <a:accent4>
        <a:srgbClr val="C7793D"/>
      </a:accent4>
      <a:accent5>
        <a:srgbClr val="DB8464"/>
      </a:accent5>
      <a:accent6>
        <a:srgbClr val="3F7699"/>
      </a:accent6>
      <a:hlink>
        <a:srgbClr val="C8350F"/>
      </a:hlink>
      <a:folHlink>
        <a:srgbClr val="DB8464"/>
      </a:folHlink>
    </a:clrScheme>
    <a:fontScheme name="Custom 22">
      <a:majorFont>
        <a:latin typeface="Haettenschweiler"/>
        <a:ea typeface=""/>
        <a:cs typeface=""/>
      </a:majorFont>
      <a:minorFont>
        <a:latin typeface="Trade Gothic Nex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ditorial" id="{71EC1670-473B-4381-BA1C-B02CC96DD716}" vid="{C5D3EF77-ADD0-40FD-A769-C339DAE739D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29</TotalTime>
  <Words>1331</Words>
  <Application>Microsoft Office PowerPoint</Application>
  <PresentationFormat>Widescreen</PresentationFormat>
  <Paragraphs>76</Paragraphs>
  <Slides>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Aptos</vt:lpstr>
      <vt:lpstr>Arial</vt:lpstr>
      <vt:lpstr>Calibri</vt:lpstr>
      <vt:lpstr>Cambria</vt:lpstr>
      <vt:lpstr>Haettenschweiler</vt:lpstr>
      <vt:lpstr>Trade Gothic Next Light</vt:lpstr>
      <vt:lpstr>Editorial</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Willis, Brandon</dc:creator>
  <cp:lastModifiedBy>Willis, Brandon</cp:lastModifiedBy>
  <cp:revision>5</cp:revision>
  <dcterms:created xsi:type="dcterms:W3CDTF">2026-08-14T13:53:55Z</dcterms:created>
  <dcterms:modified xsi:type="dcterms:W3CDTF">2026-08-14T14:25:49Z</dcterms:modified>
</cp:coreProperties>
</file>